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image" Target="../media/image-5-33.png"/><Relationship Id="rId34" Type="http://schemas.openxmlformats.org/officeDocument/2006/relationships/image" Target="../media/image-5-34.png"/><Relationship Id="rId35" Type="http://schemas.openxmlformats.org/officeDocument/2006/relationships/image" Target="../media/image-5-35.png"/><Relationship Id="rId36" Type="http://schemas.openxmlformats.org/officeDocument/2006/relationships/image" Target="../media/image-5-36.png"/><Relationship Id="rId37" Type="http://schemas.openxmlformats.org/officeDocument/2006/relationships/image" Target="../media/image-5-37.png"/><Relationship Id="rId38" Type="http://schemas.openxmlformats.org/officeDocument/2006/relationships/image" Target="../media/image-5-38.png"/><Relationship Id="rId39" Type="http://schemas.openxmlformats.org/officeDocument/2006/relationships/image" Target="../media/image-5-39.pn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5086807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0" r="0" t="-17410" b="-17410"/>
          <a:stretch/>
        </p:blipFill>
        <p:spPr>
          <a:xfrm>
            <a:off x="0" y="0"/>
            <a:ext cx="5086807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80406" y="0"/>
            <a:ext cx="711494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13045" r="13045" t="0" b="0"/>
          <a:stretch/>
        </p:blipFill>
        <p:spPr>
          <a:xfrm>
            <a:off x="5080406" y="0"/>
            <a:ext cx="7114946" cy="685800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-266" r="-266" t="0" b="0"/>
          <a:stretch/>
        </p:blipFill>
        <p:spPr>
          <a:xfrm>
            <a:off x="457200" y="466344"/>
            <a:ext cx="323698" cy="286207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95198" y="457200"/>
            <a:ext cx="13716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KHIT ZAY</a:t>
            </a:r>
            <a:endParaRPr lang="en-US" sz="18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375" b="-375"/>
          <a:stretch/>
        </p:blipFill>
        <p:spPr>
          <a:xfrm>
            <a:off x="457200" y="914400"/>
            <a:ext cx="609905" cy="38405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457200" y="1714500"/>
            <a:ext cx="4286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F59E0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Expansion Plan</a:t>
            </a:r>
            <a:endParaRPr lang="en-US" sz="1000" dirty="0"/>
          </a:p>
        </p:txBody>
      </p:sp>
      <p:sp>
        <p:nvSpPr>
          <p:cNvPr id="12" name="Text 5"/>
          <p:cNvSpPr txBox="1"/>
          <p:nvPr/>
        </p:nvSpPr>
        <p:spPr>
          <a:xfrm>
            <a:off x="457200" y="2057400"/>
            <a:ext cx="43388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Multi-Vendor</a:t>
            </a:r>
            <a:pPr algn="l" indent="0" marL="0">
              <a:buNone/>
            </a:pP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Marketplace</a:t>
            </a:r>
            <a:pPr algn="l" indent="0" marL="0">
              <a:buNone/>
            </a:pP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Expansion</a:t>
            </a:r>
            <a:pPr algn="l" indent="0" marL="0">
              <a:buNone/>
            </a:pP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Strategy </a:t>
            </a:r>
            <a:endParaRPr lang="en-US" sz="3600" dirty="0"/>
          </a:p>
        </p:txBody>
      </p:sp>
      <p:sp>
        <p:nvSpPr>
          <p:cNvPr id="13" name="Text 6"/>
          <p:cNvSpPr txBox="1"/>
          <p:nvPr/>
        </p:nvSpPr>
        <p:spPr>
          <a:xfrm>
            <a:off x="457200" y="4572000"/>
            <a:ext cx="37344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Transforming Myanmar's e-commerce landscape by leveraging a 30-year legacy.</a:t>
            </a:r>
            <a:endParaRPr lang="en-US" sz="1300" dirty="0"/>
          </a:p>
        </p:txBody>
      </p:sp>
      <p:sp>
        <p:nvSpPr>
          <p:cNvPr id="14" name="Text 7"/>
          <p:cNvSpPr txBox="1"/>
          <p:nvPr/>
        </p:nvSpPr>
        <p:spPr>
          <a:xfrm>
            <a:off x="457200" y="5586070"/>
            <a:ext cx="4286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457200" y="5814670"/>
            <a:ext cx="4286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KHIT ZAY Strategy Team</a:t>
            </a:r>
            <a:endParaRPr lang="en-US" sz="1300" dirty="0"/>
          </a:p>
        </p:txBody>
      </p:sp>
      <p:sp>
        <p:nvSpPr>
          <p:cNvPr id="16" name="Text 9"/>
          <p:cNvSpPr txBox="1"/>
          <p:nvPr/>
        </p:nvSpPr>
        <p:spPr>
          <a:xfrm>
            <a:off x="457200" y="6234379"/>
            <a:ext cx="4286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March 10, 2026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5689397" y="1271930"/>
            <a:ext cx="38405" cy="875995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5956402" y="1271930"/>
            <a:ext cx="57442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" kern="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Parent Company Context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5956402" y="1500530"/>
            <a:ext cx="57442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Blazon MM Group</a:t>
            </a:r>
            <a:endParaRPr lang="en-US" sz="2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956402" y="1976018"/>
            <a:ext cx="152705" cy="152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185002" y="1957730"/>
            <a:ext cx="11996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30-Year Legacy</a:t>
            </a:r>
            <a:endParaRPr lang="en-US" sz="10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452360" y="1976018"/>
            <a:ext cx="152705" cy="15270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680960" y="1957730"/>
            <a:ext cx="11905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17 Int'l Brands</a:t>
            </a:r>
            <a:endParaRPr lang="en-US" sz="10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8907170" y="1976018"/>
            <a:ext cx="190195" cy="152705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9173261" y="1957730"/>
            <a:ext cx="13706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1M+ Active Users</a:t>
            </a:r>
            <a:endParaRPr lang="en-US" sz="1000" dirty="0"/>
          </a:p>
        </p:txBody>
      </p:sp>
      <p:sp>
        <p:nvSpPr>
          <p:cNvPr id="26" name="Text 16"/>
          <p:cNvSpPr txBox="1"/>
          <p:nvPr/>
        </p:nvSpPr>
        <p:spPr>
          <a:xfrm>
            <a:off x="5689397" y="2605126"/>
            <a:ext cx="597286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"From a single-vendor powerhouse to Myanmar’s premier curated marketplace—connecting lifestyle seekers with trusted sellers."</a:t>
            </a:r>
            <a:endParaRPr lang="en-US" sz="15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21" b="-21"/>
          <a:stretch/>
        </p:blipFill>
        <p:spPr>
          <a:xfrm>
            <a:off x="5689397" y="3681374"/>
            <a:ext cx="2831897" cy="838505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5851246" y="3843223"/>
            <a:ext cx="381305" cy="3813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80" b="-180"/>
          <a:stretch/>
        </p:blipFill>
        <p:spPr>
          <a:xfrm>
            <a:off x="5946343" y="3957523"/>
            <a:ext cx="190195" cy="152705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6385255" y="3843223"/>
            <a:ext cx="21470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Complement, Don't Compete</a:t>
            </a:r>
            <a:endParaRPr lang="en-US" sz="1000" dirty="0"/>
          </a:p>
        </p:txBody>
      </p:sp>
      <p:sp>
        <p:nvSpPr>
          <p:cNvPr id="31" name="Text 19"/>
          <p:cNvSpPr txBox="1"/>
          <p:nvPr/>
        </p:nvSpPr>
        <p:spPr>
          <a:xfrm>
            <a:off x="6385255" y="4071823"/>
            <a:ext cx="2057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Filling portfolio gaps with non-competing categories.</a:t>
            </a:r>
            <a:endParaRPr lang="en-US" sz="9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21" b="-21"/>
          <a:stretch/>
        </p:blipFill>
        <p:spPr>
          <a:xfrm>
            <a:off x="8749894" y="3681374"/>
            <a:ext cx="2831897" cy="838505"/>
          </a:xfrm>
          <a:prstGeom prst="rect">
            <a:avLst/>
          </a:prstGeom>
        </p:spPr>
      </p:pic>
      <p:sp>
        <p:nvSpPr>
          <p:cNvPr id="33" name="Shape 20"/>
          <p:cNvSpPr/>
          <p:nvPr/>
        </p:nvSpPr>
        <p:spPr>
          <a:xfrm>
            <a:off x="8911742" y="3843223"/>
            <a:ext cx="381305" cy="38130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026042" y="3957523"/>
            <a:ext cx="152705" cy="152705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9445752" y="3843223"/>
            <a:ext cx="2061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Quality-First</a:t>
            </a:r>
            <a:endParaRPr lang="en-US" sz="1000" dirty="0"/>
          </a:p>
        </p:txBody>
      </p:sp>
      <p:sp>
        <p:nvSpPr>
          <p:cNvPr id="36" name="Text 22"/>
          <p:cNvSpPr txBox="1"/>
          <p:nvPr/>
        </p:nvSpPr>
        <p:spPr>
          <a:xfrm>
            <a:off x="9445752" y="4071823"/>
            <a:ext cx="2057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Rigorous vetting to maintain premium positioning.</a:t>
            </a:r>
            <a:endParaRPr lang="en-US" sz="90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21" b="-21"/>
          <a:stretch/>
        </p:blipFill>
        <p:spPr>
          <a:xfrm>
            <a:off x="5689397" y="4748479"/>
            <a:ext cx="2831897" cy="838505"/>
          </a:xfrm>
          <a:prstGeom prst="rect">
            <a:avLst/>
          </a:prstGeom>
        </p:spPr>
      </p:pic>
      <p:sp>
        <p:nvSpPr>
          <p:cNvPr id="38" name="Shape 23"/>
          <p:cNvSpPr/>
          <p:nvPr/>
        </p:nvSpPr>
        <p:spPr>
          <a:xfrm>
            <a:off x="5851246" y="4910328"/>
            <a:ext cx="381305" cy="381305"/>
          </a:xfrm>
          <a:prstGeom prst="ellipse">
            <a:avLst/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5965546" y="5024628"/>
            <a:ext cx="152705" cy="152705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6385255" y="4910328"/>
            <a:ext cx="2061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Phased Scale</a:t>
            </a:r>
            <a:endParaRPr lang="en-US" sz="1000" dirty="0"/>
          </a:p>
        </p:txBody>
      </p:sp>
      <p:sp>
        <p:nvSpPr>
          <p:cNvPr id="41" name="Text 25"/>
          <p:cNvSpPr txBox="1"/>
          <p:nvPr/>
        </p:nvSpPr>
        <p:spPr>
          <a:xfrm>
            <a:off x="6385255" y="5138928"/>
            <a:ext cx="2057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Controlled expansion from pilot to full launch.</a:t>
            </a:r>
            <a:endParaRPr lang="en-US" sz="90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21" b="-21"/>
          <a:stretch/>
        </p:blipFill>
        <p:spPr>
          <a:xfrm>
            <a:off x="8749894" y="4748479"/>
            <a:ext cx="2831897" cy="838505"/>
          </a:xfrm>
          <a:prstGeom prst="rect">
            <a:avLst/>
          </a:prstGeom>
        </p:spPr>
      </p:pic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9026042" y="5024628"/>
            <a:ext cx="152705" cy="152705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9445752" y="4910328"/>
            <a:ext cx="2061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Data-Driven Ops</a:t>
            </a:r>
            <a:endParaRPr lang="en-US" sz="1000" dirty="0"/>
          </a:p>
        </p:txBody>
      </p:sp>
      <p:sp>
        <p:nvSpPr>
          <p:cNvPr id="45" name="Text 27"/>
          <p:cNvSpPr txBox="1"/>
          <p:nvPr/>
        </p:nvSpPr>
        <p:spPr>
          <a:xfrm>
            <a:off x="9445752" y="5138928"/>
            <a:ext cx="2057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Leveraging analytics for inventory and fulfillment.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914400"/>
            <a:ext cx="5086807" cy="59436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2"/>
          <p:cNvSpPr/>
          <p:nvPr/>
        </p:nvSpPr>
        <p:spPr>
          <a:xfrm>
            <a:off x="5077663" y="914400"/>
            <a:ext cx="9144" cy="59436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" y="1295705"/>
            <a:ext cx="40105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Starting Position 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2512" r="-2512" t="0" b="0"/>
          <a:stretch/>
        </p:blipFill>
        <p:spPr>
          <a:xfrm>
            <a:off x="480974" y="1380744"/>
            <a:ext cx="105156" cy="133502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-3" r="-3" t="0" b="0"/>
          <a:stretch/>
        </p:blipFill>
        <p:spPr>
          <a:xfrm>
            <a:off x="381305" y="1752905"/>
            <a:ext cx="4308653" cy="18288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19049" y="2371954"/>
            <a:ext cx="3838651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19049" y="2029054"/>
            <a:ext cx="1519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Active Customer Base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3327502" y="1990649"/>
            <a:ext cx="12271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1,000,000+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19049" y="2915107"/>
            <a:ext cx="3838651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19049" y="2572207"/>
            <a:ext cx="19842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International Brand Portfolio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3485693" y="2533802"/>
            <a:ext cx="110185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17 Brands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19049" y="3114446"/>
            <a:ext cx="1349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Legacy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3617366" y="3076956"/>
            <a:ext cx="9784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 Years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81305" y="3733495"/>
            <a:ext cx="43918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Building on a solid foundation of trusted logistics and customer service infrastructure established by Blazon MM Group.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800100" y="4472330"/>
            <a:ext cx="40105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Strategic Vision </a:t>
            </a:r>
            <a:endParaRPr lang="en-US" sz="1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-837" r="-837" t="0" b="0"/>
          <a:stretch/>
        </p:blipFill>
        <p:spPr>
          <a:xfrm>
            <a:off x="457200" y="4557370"/>
            <a:ext cx="152705" cy="13350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80406" y="914400"/>
            <a:ext cx="7114946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460797" y="1809598"/>
            <a:ext cx="3105302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460797" y="1809598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CCA43B"/>
          </a:solidFill>
          <a:ln w="12700">
            <a:solidFill>
              <a:srgbClr val="CCA43B">
                <a:alpha val="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651906" y="1962302"/>
            <a:ext cx="13240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Marketplace Scale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5651906" y="2152498"/>
            <a:ext cx="13240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60-80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5651906" y="2457907"/>
            <a:ext cx="13240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Quality Sellers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8026603" y="1962302"/>
            <a:ext cx="381305" cy="381305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-33" r="-33" t="0" b="0"/>
          <a:stretch/>
        </p:blipFill>
        <p:spPr>
          <a:xfrm>
            <a:off x="8130845" y="2076602"/>
            <a:ext cx="171907" cy="15270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712403" y="1809598"/>
            <a:ext cx="3105302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712403" y="1809598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CCA43B"/>
          </a:solidFill>
          <a:ln w="12700">
            <a:solidFill>
              <a:srgbClr val="CCA43B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902598" y="1962302"/>
            <a:ext cx="1162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Product Volume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8902598" y="2152498"/>
            <a:ext cx="11622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6,000+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8902598" y="2457907"/>
            <a:ext cx="1162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Active SKUs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11277295" y="1962302"/>
            <a:ext cx="381305" cy="38130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80" b="-180"/>
          <a:stretch/>
        </p:blipFill>
        <p:spPr>
          <a:xfrm>
            <a:off x="11372393" y="2076602"/>
            <a:ext cx="190195" cy="152705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5460797" y="2915107"/>
            <a:ext cx="3105302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5460797" y="2915107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CCA43B"/>
          </a:solidFill>
          <a:ln w="12700">
            <a:solidFill>
              <a:srgbClr val="CCA43B">
                <a:alpha val="0"/>
              </a:srgbClr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5651906" y="3066898"/>
            <a:ext cx="1219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Financial Target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5651906" y="3258007"/>
            <a:ext cx="12198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6.75B</a:t>
            </a:r>
            <a:endParaRPr lang="en-US" sz="1800" dirty="0"/>
          </a:p>
        </p:txBody>
      </p:sp>
      <p:sp>
        <p:nvSpPr>
          <p:cNvPr id="39" name="Text 31"/>
          <p:cNvSpPr txBox="1"/>
          <p:nvPr/>
        </p:nvSpPr>
        <p:spPr>
          <a:xfrm>
            <a:off x="5651906" y="3562502"/>
            <a:ext cx="13487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Projected GMV (MMK)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8026603" y="3066898"/>
            <a:ext cx="381305" cy="38130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140903" y="3181198"/>
            <a:ext cx="152705" cy="152705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8712403" y="2915107"/>
            <a:ext cx="3105302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8712403" y="2915107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CCA43B"/>
          </a:solidFill>
          <a:ln w="12700">
            <a:solidFill>
              <a:srgbClr val="CCA43B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8902598" y="3066898"/>
            <a:ext cx="14959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Customer Experience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8902598" y="3258007"/>
            <a:ext cx="14959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4.5/5</a:t>
            </a:r>
            <a:endParaRPr lang="en-US" sz="1800" dirty="0"/>
          </a:p>
        </p:txBody>
      </p:sp>
      <p:sp>
        <p:nvSpPr>
          <p:cNvPr id="46" name="Text 37"/>
          <p:cNvSpPr txBox="1"/>
          <p:nvPr/>
        </p:nvSpPr>
        <p:spPr>
          <a:xfrm>
            <a:off x="8902598" y="3562502"/>
            <a:ext cx="14959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CSAT Score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11277295" y="3066898"/>
            <a:ext cx="381305" cy="38130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1391595" y="3181198"/>
            <a:ext cx="152705" cy="152705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5689397" y="4172407"/>
            <a:ext cx="2915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Seller Value Proposition </a:t>
            </a:r>
            <a:endParaRPr lang="en-US" sz="1200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460797" y="4209898"/>
            <a:ext cx="152705" cy="152705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9016898" y="4172407"/>
            <a:ext cx="2915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Go-To-Market Phases </a:t>
            </a:r>
            <a:endParaRPr lang="en-US" sz="1200" dirty="0"/>
          </a:p>
        </p:txBody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788298" y="4209898"/>
            <a:ext cx="152705" cy="152705"/>
          </a:xfrm>
          <a:prstGeom prst="rect">
            <a:avLst/>
          </a:prstGeom>
        </p:spPr>
      </p:pic>
      <p:sp>
        <p:nvSpPr>
          <p:cNvPr id="53" name="Shape 41"/>
          <p:cNvSpPr/>
          <p:nvPr/>
        </p:nvSpPr>
        <p:spPr>
          <a:xfrm>
            <a:off x="5460797" y="1600200"/>
            <a:ext cx="3038551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4" name="Text 42"/>
          <p:cNvSpPr txBox="1"/>
          <p:nvPr/>
        </p:nvSpPr>
        <p:spPr>
          <a:xfrm>
            <a:off x="5460797" y="1295705"/>
            <a:ext cx="315285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8" kern="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12-Month Success Metrics</a:t>
            </a:r>
            <a:endParaRPr lang="en-US" sz="1500" dirty="0"/>
          </a:p>
        </p:txBody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5" b="-5"/>
          <a:stretch/>
        </p:blipFill>
        <p:spPr>
          <a:xfrm>
            <a:off x="381305" y="4929530"/>
            <a:ext cx="4308653" cy="1571854"/>
          </a:xfrm>
          <a:prstGeom prst="rect">
            <a:avLst/>
          </a:prstGeom>
        </p:spPr>
      </p:pic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>
            <a:alphaModFix amt="20000"/>
          </a:blip>
          <a:srcRect l="-743" r="-743" t="0" b="0"/>
          <a:stretch/>
        </p:blipFill>
        <p:spPr>
          <a:xfrm>
            <a:off x="533095" y="5081321"/>
            <a:ext cx="304495" cy="342900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5460797" y="4552798"/>
            <a:ext cx="3105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Immediate Access: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Direct reach to 1M+ active user base</a:t>
            </a:r>
            <a:endParaRPr lang="en-US" sz="1000" dirty="0"/>
          </a:p>
        </p:txBody>
      </p:sp>
      <p:sp>
        <p:nvSpPr>
          <p:cNvPr id="58" name="Text 44"/>
          <p:cNvSpPr txBox="1"/>
          <p:nvPr/>
        </p:nvSpPr>
        <p:spPr>
          <a:xfrm>
            <a:off x="5460797" y="5048402"/>
            <a:ext cx="3105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Zero Risk: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No upfront fees, commission-based model</a:t>
            </a:r>
            <a:endParaRPr lang="en-US" sz="1000" dirty="0"/>
          </a:p>
        </p:txBody>
      </p:sp>
      <p:sp>
        <p:nvSpPr>
          <p:cNvPr id="59" name="Text 45"/>
          <p:cNvSpPr txBox="1"/>
          <p:nvPr/>
        </p:nvSpPr>
        <p:spPr>
          <a:xfrm>
            <a:off x="5460797" y="5544007"/>
            <a:ext cx="3105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Full Support: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End-to-end logistics &amp; customer service</a:t>
            </a:r>
            <a:endParaRPr lang="en-US" sz="1000" dirty="0"/>
          </a:p>
        </p:txBody>
      </p:sp>
      <p:sp>
        <p:nvSpPr>
          <p:cNvPr id="60" name="Text 46"/>
          <p:cNvSpPr txBox="1"/>
          <p:nvPr/>
        </p:nvSpPr>
        <p:spPr>
          <a:xfrm>
            <a:off x="5460797" y="6038698"/>
            <a:ext cx="3105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Marketing Power: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Integrated into established digital campaigns</a:t>
            </a:r>
            <a:endParaRPr lang="en-US" sz="1000" dirty="0"/>
          </a:p>
        </p:txBody>
      </p:sp>
      <p:pic>
        <p:nvPicPr>
          <p:cNvPr id="6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392" b="-392"/>
          <a:stretch/>
        </p:blipFill>
        <p:spPr>
          <a:xfrm>
            <a:off x="8788298" y="4781398"/>
            <a:ext cx="3023006" cy="19202"/>
          </a:xfrm>
          <a:prstGeom prst="rect">
            <a:avLst/>
          </a:prstGeom>
        </p:spPr>
      </p:pic>
      <p:pic>
        <p:nvPicPr>
          <p:cNvPr id="62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" b="-1"/>
          <a:stretch/>
        </p:blipFill>
        <p:spPr>
          <a:xfrm>
            <a:off x="0" y="0"/>
            <a:ext cx="12191695" cy="914400"/>
          </a:xfrm>
          <a:prstGeom prst="rect">
            <a:avLst/>
          </a:prstGeom>
        </p:spPr>
      </p:pic>
      <p:pic>
        <p:nvPicPr>
          <p:cNvPr id="63" name="Image 14" descr="preencoded.png">    </p:cNvPr>
          <p:cNvPicPr>
            <a:picLocks noChangeAspect="1"/>
          </p:cNvPicPr>
          <p:nvPr/>
        </p:nvPicPr>
        <p:blipFill>
          <a:blip r:embed="rId15"/>
          <a:srcRect l="-266" r="-266" t="0" b="0"/>
          <a:stretch/>
        </p:blipFill>
        <p:spPr>
          <a:xfrm>
            <a:off x="457200" y="314554"/>
            <a:ext cx="323698" cy="286207"/>
          </a:xfrm>
          <a:prstGeom prst="rect">
            <a:avLst/>
          </a:prstGeom>
        </p:spPr>
      </p:pic>
      <p:sp>
        <p:nvSpPr>
          <p:cNvPr id="64" name="Text 47"/>
          <p:cNvSpPr txBox="1"/>
          <p:nvPr/>
        </p:nvSpPr>
        <p:spPr>
          <a:xfrm>
            <a:off x="933602" y="286207"/>
            <a:ext cx="32406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56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65" name="Text 48"/>
          <p:cNvSpPr txBox="1"/>
          <p:nvPr/>
        </p:nvSpPr>
        <p:spPr>
          <a:xfrm>
            <a:off x="9641434" y="247802"/>
            <a:ext cx="1828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5" kern="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Strategy Overview</a:t>
            </a:r>
            <a:endParaRPr lang="en-US" sz="900" dirty="0"/>
          </a:p>
        </p:txBody>
      </p:sp>
      <p:sp>
        <p:nvSpPr>
          <p:cNvPr id="66" name="Text 49"/>
          <p:cNvSpPr txBox="1"/>
          <p:nvPr/>
        </p:nvSpPr>
        <p:spPr>
          <a:xfrm>
            <a:off x="9592970" y="400507"/>
            <a:ext cx="18772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Expansion Roadmap</a:t>
            </a:r>
            <a:endParaRPr lang="en-US" sz="1300" dirty="0"/>
          </a:p>
        </p:txBody>
      </p:sp>
      <p:pic>
        <p:nvPicPr>
          <p:cNvPr id="67" name="Image 15" descr="preencoded.png">    </p:cNvPr>
          <p:cNvPicPr>
            <a:picLocks noChangeAspect="1"/>
          </p:cNvPicPr>
          <p:nvPr/>
        </p:nvPicPr>
        <p:blipFill>
          <a:blip r:embed="rId16"/>
          <a:srcRect l="-400" r="-400" t="0" b="0"/>
          <a:stretch/>
        </p:blipFill>
        <p:spPr>
          <a:xfrm>
            <a:off x="11697005" y="228600"/>
            <a:ext cx="38405" cy="457200"/>
          </a:xfrm>
          <a:prstGeom prst="rect">
            <a:avLst/>
          </a:prstGeom>
        </p:spPr>
      </p:pic>
      <p:sp>
        <p:nvSpPr>
          <p:cNvPr id="68" name="Text 50"/>
          <p:cNvSpPr txBox="1"/>
          <p:nvPr/>
        </p:nvSpPr>
        <p:spPr>
          <a:xfrm>
            <a:off x="571500" y="5158130"/>
            <a:ext cx="3934663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"To build Myanmar's premier curated marketplace by extending fashion &amp; beauty leadership into complementary lifestyle categories."</a:t>
            </a:r>
            <a:endParaRPr lang="en-US" sz="1300" dirty="0"/>
          </a:p>
        </p:txBody>
      </p:sp>
      <p:sp>
        <p:nvSpPr>
          <p:cNvPr id="69" name="Shape 51"/>
          <p:cNvSpPr/>
          <p:nvPr/>
        </p:nvSpPr>
        <p:spPr>
          <a:xfrm>
            <a:off x="9165946" y="4934102"/>
            <a:ext cx="19202" cy="228600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52"/>
          <p:cNvSpPr/>
          <p:nvPr/>
        </p:nvSpPr>
        <p:spPr>
          <a:xfrm>
            <a:off x="9013241" y="4629607"/>
            <a:ext cx="304495" cy="30449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53"/>
          <p:cNvSpPr/>
          <p:nvPr/>
        </p:nvSpPr>
        <p:spPr>
          <a:xfrm>
            <a:off x="8984894" y="4629607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900" dirty="0"/>
          </a:p>
        </p:txBody>
      </p:sp>
      <p:sp>
        <p:nvSpPr>
          <p:cNvPr id="72" name="Text 54"/>
          <p:cNvSpPr txBox="1"/>
          <p:nvPr/>
        </p:nvSpPr>
        <p:spPr>
          <a:xfrm>
            <a:off x="8802014" y="5009998"/>
            <a:ext cx="73517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73" name="Text 55"/>
          <p:cNvSpPr txBox="1"/>
          <p:nvPr/>
        </p:nvSpPr>
        <p:spPr>
          <a:xfrm>
            <a:off x="8934602" y="5162702"/>
            <a:ext cx="467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 1-2</a:t>
            </a:r>
            <a:endParaRPr lang="en-US" sz="1200" dirty="0"/>
          </a:p>
        </p:txBody>
      </p:sp>
      <p:sp>
        <p:nvSpPr>
          <p:cNvPr id="74" name="Shape 56"/>
          <p:cNvSpPr/>
          <p:nvPr/>
        </p:nvSpPr>
        <p:spPr>
          <a:xfrm>
            <a:off x="9921240" y="4934102"/>
            <a:ext cx="19202" cy="228600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57"/>
          <p:cNvSpPr/>
          <p:nvPr/>
        </p:nvSpPr>
        <p:spPr>
          <a:xfrm>
            <a:off x="9769450" y="4629607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76" name="Text 58"/>
          <p:cNvSpPr/>
          <p:nvPr/>
        </p:nvSpPr>
        <p:spPr>
          <a:xfrm>
            <a:off x="9741103" y="4629607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900" dirty="0"/>
          </a:p>
        </p:txBody>
      </p:sp>
      <p:sp>
        <p:nvSpPr>
          <p:cNvPr id="77" name="Text 59"/>
          <p:cNvSpPr txBox="1"/>
          <p:nvPr/>
        </p:nvSpPr>
        <p:spPr>
          <a:xfrm>
            <a:off x="9752076" y="5009998"/>
            <a:ext cx="342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Pilot</a:t>
            </a:r>
            <a:endParaRPr lang="en-US" sz="900" dirty="0"/>
          </a:p>
        </p:txBody>
      </p:sp>
      <p:sp>
        <p:nvSpPr>
          <p:cNvPr id="78" name="Text 60"/>
          <p:cNvSpPr txBox="1"/>
          <p:nvPr/>
        </p:nvSpPr>
        <p:spPr>
          <a:xfrm>
            <a:off x="9689897" y="5162702"/>
            <a:ext cx="467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 3-4</a:t>
            </a:r>
            <a:endParaRPr lang="en-US" sz="1200" dirty="0"/>
          </a:p>
        </p:txBody>
      </p:sp>
      <p:sp>
        <p:nvSpPr>
          <p:cNvPr id="79" name="Shape 61"/>
          <p:cNvSpPr/>
          <p:nvPr/>
        </p:nvSpPr>
        <p:spPr>
          <a:xfrm>
            <a:off x="10677449" y="4934102"/>
            <a:ext cx="19202" cy="228600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62"/>
          <p:cNvSpPr/>
          <p:nvPr/>
        </p:nvSpPr>
        <p:spPr>
          <a:xfrm>
            <a:off x="10524744" y="4629607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81" name="Text 63"/>
          <p:cNvSpPr/>
          <p:nvPr/>
        </p:nvSpPr>
        <p:spPr>
          <a:xfrm>
            <a:off x="10496398" y="4629607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900" dirty="0"/>
          </a:p>
        </p:txBody>
      </p:sp>
      <p:sp>
        <p:nvSpPr>
          <p:cNvPr id="82" name="Text 64"/>
          <p:cNvSpPr txBox="1"/>
          <p:nvPr/>
        </p:nvSpPr>
        <p:spPr>
          <a:xfrm>
            <a:off x="10426903" y="5009998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Expand</a:t>
            </a:r>
            <a:endParaRPr lang="en-US" sz="900" dirty="0"/>
          </a:p>
        </p:txBody>
      </p:sp>
      <p:sp>
        <p:nvSpPr>
          <p:cNvPr id="83" name="Text 65"/>
          <p:cNvSpPr txBox="1"/>
          <p:nvPr/>
        </p:nvSpPr>
        <p:spPr>
          <a:xfrm>
            <a:off x="10446106" y="5162702"/>
            <a:ext cx="467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 5-7</a:t>
            </a:r>
            <a:endParaRPr lang="en-US" sz="1200" dirty="0"/>
          </a:p>
        </p:txBody>
      </p:sp>
      <p:sp>
        <p:nvSpPr>
          <p:cNvPr id="84" name="Shape 66"/>
          <p:cNvSpPr/>
          <p:nvPr/>
        </p:nvSpPr>
        <p:spPr>
          <a:xfrm>
            <a:off x="11432743" y="4934102"/>
            <a:ext cx="19202" cy="228600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67"/>
          <p:cNvSpPr/>
          <p:nvPr/>
        </p:nvSpPr>
        <p:spPr>
          <a:xfrm>
            <a:off x="11280953" y="4629607"/>
            <a:ext cx="304495" cy="304495"/>
          </a:xfrm>
          <a:prstGeom prst="ellipse">
            <a:avLst/>
          </a:prstGeom>
          <a:solidFill>
            <a:srgbClr val="CCA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Text 68"/>
          <p:cNvSpPr/>
          <p:nvPr/>
        </p:nvSpPr>
        <p:spPr>
          <a:xfrm>
            <a:off x="11251692" y="4629607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900" dirty="0"/>
          </a:p>
        </p:txBody>
      </p:sp>
      <p:sp>
        <p:nvSpPr>
          <p:cNvPr id="87" name="Text 69"/>
          <p:cNvSpPr txBox="1"/>
          <p:nvPr/>
        </p:nvSpPr>
        <p:spPr>
          <a:xfrm>
            <a:off x="11042294" y="5009998"/>
            <a:ext cx="7827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Full Launch</a:t>
            </a:r>
            <a:endParaRPr lang="en-US" sz="900" dirty="0"/>
          </a:p>
        </p:txBody>
      </p:sp>
      <p:sp>
        <p:nvSpPr>
          <p:cNvPr id="88" name="Text 70"/>
          <p:cNvSpPr txBox="1"/>
          <p:nvPr/>
        </p:nvSpPr>
        <p:spPr>
          <a:xfrm>
            <a:off x="11152937" y="516270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 8-12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" b="-6"/>
          <a:stretch/>
        </p:blipFill>
        <p:spPr>
          <a:xfrm>
            <a:off x="457200" y="1218895"/>
            <a:ext cx="7362749" cy="26673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42746" y="1457554"/>
            <a:ext cx="326806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Target Categories (Yangon-Based) 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4944" y="1505102"/>
            <a:ext cx="171907" cy="17190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03036" y="1476756"/>
            <a:ext cx="1580998" cy="228600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003036" y="1476756"/>
            <a:ext cx="1645006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 Lifestyle Extension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94944" y="1876349"/>
            <a:ext cx="2200046" cy="1429207"/>
          </a:xfrm>
          <a:prstGeom prst="roundRect">
            <a:avLst>
              <a:gd name="adj" fmla="val 341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94944" y="1876349"/>
            <a:ext cx="38405" cy="1429207"/>
          </a:xfrm>
          <a:prstGeom prst="roundRect">
            <a:avLst>
              <a:gd name="adj" fmla="val 126983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7649" y="2000707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2746" y="2095805"/>
            <a:ext cx="114300" cy="1143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049170" y="2000707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847649" y="2381098"/>
            <a:ext cx="20016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Watches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847649" y="2609698"/>
            <a:ext cx="20007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Casio, Seiko, Fossil. Premium authorized dealers.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041294" y="1876349"/>
            <a:ext cx="2200046" cy="1429207"/>
          </a:xfrm>
          <a:prstGeom prst="roundRect">
            <a:avLst>
              <a:gd name="adj" fmla="val 341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041294" y="1876349"/>
            <a:ext cx="38405" cy="1429207"/>
          </a:xfrm>
          <a:prstGeom prst="roundRect">
            <a:avLst>
              <a:gd name="adj" fmla="val 126983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193999" y="2000707"/>
            <a:ext cx="304495" cy="304495"/>
          </a:xfrm>
          <a:prstGeom prst="ellipse">
            <a:avLst/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89097" y="2095805"/>
            <a:ext cx="114300" cy="1143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482389" y="2000707"/>
            <a:ext cx="715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3193999" y="2381098"/>
            <a:ext cx="20016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Fragrances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3193999" y="2609698"/>
            <a:ext cx="20007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Niche &amp; designer perfumes above mass market.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387645" y="1876349"/>
            <a:ext cx="2200046" cy="1429207"/>
          </a:xfrm>
          <a:prstGeom prst="roundRect">
            <a:avLst>
              <a:gd name="adj" fmla="val 341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87645" y="1876349"/>
            <a:ext cx="38405" cy="1429207"/>
          </a:xfrm>
          <a:prstGeom prst="roundRect">
            <a:avLst>
              <a:gd name="adj" fmla="val 126983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540350" y="2000707"/>
            <a:ext cx="304495" cy="304495"/>
          </a:xfrm>
          <a:prstGeom prst="ellipse">
            <a:avLst/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635447" y="2095805"/>
            <a:ext cx="114300" cy="1143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037222" y="2000707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5540350" y="2572207"/>
            <a:ext cx="20016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Gadgets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5540350" y="2800807"/>
            <a:ext cx="20007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Earbuds, smartwatches, power banks (&lt;2kg).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94944" y="3457346"/>
            <a:ext cx="2200046" cy="1238098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94944" y="3457346"/>
            <a:ext cx="38405" cy="1238098"/>
          </a:xfrm>
          <a:prstGeom prst="roundRect">
            <a:avLst>
              <a:gd name="adj" fmla="val 146519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47649" y="3581705"/>
            <a:ext cx="304495" cy="304495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-1911" r="-1911" t="0" b="0"/>
          <a:stretch/>
        </p:blipFill>
        <p:spPr>
          <a:xfrm>
            <a:off x="933602" y="3676802"/>
            <a:ext cx="133502" cy="1143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47649" y="3962095"/>
            <a:ext cx="20016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Accessories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847649" y="4190695"/>
            <a:ext cx="20007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Sunglasses, jewelry, belts, wallets.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3041294" y="3457346"/>
            <a:ext cx="2200046" cy="1238098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3041294" y="3457346"/>
            <a:ext cx="38405" cy="1238098"/>
          </a:xfrm>
          <a:prstGeom prst="roundRect">
            <a:avLst>
              <a:gd name="adj" fmla="val 146519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3193999" y="3581705"/>
            <a:ext cx="304495" cy="30449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289097" y="3676802"/>
            <a:ext cx="114300" cy="11430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193999" y="3962095"/>
            <a:ext cx="20016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&amp; Wellness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3193999" y="4190695"/>
            <a:ext cx="20007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Aromatherapy, candles, small decor.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5387645" y="3457346"/>
            <a:ext cx="2200046" cy="1238098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5387645" y="3457346"/>
            <a:ext cx="38405" cy="1238098"/>
          </a:xfrm>
          <a:prstGeom prst="roundRect">
            <a:avLst>
              <a:gd name="adj" fmla="val 146519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5960059" y="3924605"/>
            <a:ext cx="10863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categories in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</a:t>
            </a:r>
            <a:endParaRPr lang="en-US" sz="900" dirty="0"/>
          </a:p>
        </p:txBody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9" b="-9"/>
          <a:stretch/>
        </p:blipFill>
        <p:spPr>
          <a:xfrm>
            <a:off x="8048549" y="1218895"/>
            <a:ext cx="3685946" cy="2667305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10896905" y="838505"/>
            <a:ext cx="1218895" cy="1218895"/>
          </a:xfrm>
          <a:prstGeom prst="ellipse">
            <a:avLst/>
          </a:prstGeom>
          <a:solidFill>
            <a:srgbClr val="CCA43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8505749" y="1447495"/>
            <a:ext cx="31153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Qualification Standards </a:t>
            </a:r>
            <a:endParaRPr lang="en-US" sz="1300" dirty="0"/>
          </a:p>
        </p:txBody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rcRect l="-760" r="-760" t="0" b="0"/>
          <a:stretch/>
        </p:blipFill>
        <p:spPr>
          <a:xfrm>
            <a:off x="8277149" y="1495044"/>
            <a:ext cx="152705" cy="171907"/>
          </a:xfrm>
          <a:prstGeom prst="rect">
            <a:avLst/>
          </a:prstGeom>
        </p:spPr>
      </p:pic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rcRect l="-133" r="-133" t="0" b="0"/>
          <a:stretch/>
        </p:blipFill>
        <p:spPr>
          <a:xfrm>
            <a:off x="8277149" y="1904695"/>
            <a:ext cx="85954" cy="114300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8477402" y="1867205"/>
            <a:ext cx="27742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Presence</a:t>
            </a:r>
            <a:endParaRPr lang="en-US" sz="900" dirty="0"/>
          </a:p>
        </p:txBody>
      </p:sp>
      <p:sp>
        <p:nvSpPr>
          <p:cNvPr id="52" name="Text 40"/>
          <p:cNvSpPr txBox="1"/>
          <p:nvPr/>
        </p:nvSpPr>
        <p:spPr>
          <a:xfrm>
            <a:off x="8477402" y="2018995"/>
            <a:ext cx="3124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Yangon warehouse/office mandatory</a:t>
            </a:r>
            <a:endParaRPr lang="en-US" sz="1200" dirty="0"/>
          </a:p>
        </p:txBody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11"/>
          <a:srcRect l="-133" r="-133" t="0" b="0"/>
          <a:stretch/>
        </p:blipFill>
        <p:spPr>
          <a:xfrm>
            <a:off x="8277149" y="2400300"/>
            <a:ext cx="85954" cy="114300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8477402" y="2361895"/>
            <a:ext cx="254660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Authenticity Guarantee</a:t>
            </a:r>
            <a:endParaRPr lang="en-US" sz="900" dirty="0"/>
          </a:p>
        </p:txBody>
      </p:sp>
      <p:sp>
        <p:nvSpPr>
          <p:cNvPr id="55" name="Text 42"/>
          <p:cNvSpPr txBox="1"/>
          <p:nvPr/>
        </p:nvSpPr>
        <p:spPr>
          <a:xfrm>
            <a:off x="8477402" y="2514600"/>
            <a:ext cx="2913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original with documentation</a:t>
            </a:r>
            <a:endParaRPr lang="en-US" sz="1200" dirty="0"/>
          </a:p>
        </p:txBody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80" b="-80"/>
          <a:stretch/>
        </p:blipFill>
        <p:spPr>
          <a:xfrm>
            <a:off x="8277149" y="2895905"/>
            <a:ext cx="142646" cy="114300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8534095" y="2857500"/>
            <a:ext cx="239755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Fulfillment Capacity</a:t>
            </a:r>
            <a:endParaRPr lang="en-US" sz="900" dirty="0"/>
          </a:p>
        </p:txBody>
      </p:sp>
      <p:sp>
        <p:nvSpPr>
          <p:cNvPr id="58" name="Text 44"/>
          <p:cNvSpPr txBox="1"/>
          <p:nvPr/>
        </p:nvSpPr>
        <p:spPr>
          <a:xfrm>
            <a:off x="8534095" y="3010205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Min. 50 orders/month capability</a:t>
            </a:r>
            <a:endParaRPr lang="en-US" sz="1200" dirty="0"/>
          </a:p>
        </p:txBody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277149" y="3390595"/>
            <a:ext cx="114300" cy="114300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8505749" y="3353105"/>
            <a:ext cx="23874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Liability Insurance</a:t>
            </a:r>
            <a:endParaRPr lang="en-US" sz="900" dirty="0"/>
          </a:p>
        </p:txBody>
      </p:sp>
      <p:sp>
        <p:nvSpPr>
          <p:cNvPr id="61" name="Text 46"/>
          <p:cNvSpPr txBox="1"/>
          <p:nvPr/>
        </p:nvSpPr>
        <p:spPr>
          <a:xfrm>
            <a:off x="8505749" y="3504895"/>
            <a:ext cx="27322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for items &gt; 500k MMK</a:t>
            </a:r>
            <a:endParaRPr lang="en-US" sz="1200" dirty="0"/>
          </a:p>
        </p:txBody>
      </p:sp>
      <p:sp>
        <p:nvSpPr>
          <p:cNvPr id="62" name="Shape 47"/>
          <p:cNvSpPr/>
          <p:nvPr/>
        </p:nvSpPr>
        <p:spPr>
          <a:xfrm>
            <a:off x="8277149" y="3886200"/>
            <a:ext cx="3228746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63" name="Text 48"/>
          <p:cNvSpPr txBox="1"/>
          <p:nvPr/>
        </p:nvSpPr>
        <p:spPr>
          <a:xfrm>
            <a:off x="8277149" y="4048049"/>
            <a:ext cx="2258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Vetting Process</a:t>
            </a:r>
            <a:endParaRPr lang="en-US" sz="1200" dirty="0"/>
          </a:p>
        </p:txBody>
      </p:sp>
      <p:pic>
        <p:nvPicPr>
          <p:cNvPr id="64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7" b="-7"/>
          <a:stretch/>
        </p:blipFill>
        <p:spPr>
          <a:xfrm>
            <a:off x="457200" y="4114800"/>
            <a:ext cx="11277295" cy="2667305"/>
          </a:xfrm>
          <a:prstGeom prst="rect">
            <a:avLst/>
          </a:prstGeom>
        </p:spPr>
      </p:pic>
      <p:sp>
        <p:nvSpPr>
          <p:cNvPr id="65" name="Text 49"/>
          <p:cNvSpPr txBox="1"/>
          <p:nvPr/>
        </p:nvSpPr>
        <p:spPr>
          <a:xfrm>
            <a:off x="942746" y="4352544"/>
            <a:ext cx="10668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Execution Timeline &amp; Milestones </a:t>
            </a:r>
            <a:endParaRPr lang="en-US" sz="1300" dirty="0"/>
          </a:p>
        </p:txBody>
      </p:sp>
      <p:pic>
        <p:nvPicPr>
          <p:cNvPr id="66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694944" y="4401007"/>
            <a:ext cx="171907" cy="171907"/>
          </a:xfrm>
          <a:prstGeom prst="rect">
            <a:avLst/>
          </a:prstGeom>
        </p:spPr>
      </p:pic>
      <p:pic>
        <p:nvPicPr>
          <p:cNvPr id="67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399" b="-399"/>
          <a:stretch/>
        </p:blipFill>
        <p:spPr>
          <a:xfrm>
            <a:off x="1171346" y="5229454"/>
            <a:ext cx="9849002" cy="38405"/>
          </a:xfrm>
          <a:prstGeom prst="rect">
            <a:avLst/>
          </a:prstGeom>
        </p:spPr>
      </p:pic>
      <p:sp>
        <p:nvSpPr>
          <p:cNvPr id="68" name="Text 50"/>
          <p:cNvSpPr txBox="1"/>
          <p:nvPr/>
        </p:nvSpPr>
        <p:spPr>
          <a:xfrm>
            <a:off x="1386230" y="5410505"/>
            <a:ext cx="16322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1: FOUNDATION</a:t>
            </a:r>
            <a:endParaRPr lang="en-US" sz="1000" dirty="0"/>
          </a:p>
        </p:txBody>
      </p:sp>
      <p:sp>
        <p:nvSpPr>
          <p:cNvPr id="69" name="Text 51"/>
          <p:cNvSpPr txBox="1"/>
          <p:nvPr/>
        </p:nvSpPr>
        <p:spPr>
          <a:xfrm>
            <a:off x="1381658" y="5639105"/>
            <a:ext cx="1633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"Building the Rails"</a:t>
            </a:r>
            <a:endParaRPr lang="en-US" sz="1200" dirty="0"/>
          </a:p>
        </p:txBody>
      </p:sp>
      <p:sp>
        <p:nvSpPr>
          <p:cNvPr id="70" name="Shape 52"/>
          <p:cNvSpPr/>
          <p:nvPr/>
        </p:nvSpPr>
        <p:spPr>
          <a:xfrm>
            <a:off x="1000354" y="5982005"/>
            <a:ext cx="2400300" cy="1505102"/>
          </a:xfrm>
          <a:prstGeom prst="roundRect">
            <a:avLst>
              <a:gd name="adj" fmla="val 3076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Text 53"/>
          <p:cNvSpPr txBox="1"/>
          <p:nvPr/>
        </p:nvSpPr>
        <p:spPr>
          <a:xfrm>
            <a:off x="1238098" y="6105449"/>
            <a:ext cx="2125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Key Actions</a:t>
            </a:r>
            <a:endParaRPr lang="en-US" sz="1200" dirty="0"/>
          </a:p>
        </p:txBody>
      </p:sp>
      <p:sp>
        <p:nvSpPr>
          <p:cNvPr id="72" name="Text 54"/>
          <p:cNvSpPr txBox="1"/>
          <p:nvPr/>
        </p:nvSpPr>
        <p:spPr>
          <a:xfrm>
            <a:off x="1162202" y="6372454"/>
            <a:ext cx="2199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framework (SLAs)</a:t>
            </a:r>
            <a:endParaRPr lang="en-US" sz="1200" dirty="0"/>
          </a:p>
        </p:txBody>
      </p:sp>
      <p:sp>
        <p:nvSpPr>
          <p:cNvPr id="73" name="Text 55"/>
          <p:cNvSpPr txBox="1"/>
          <p:nvPr/>
        </p:nvSpPr>
        <p:spPr>
          <a:xfrm>
            <a:off x="1162202" y="6638544"/>
            <a:ext cx="2190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Shopify Multi-vendor setup</a:t>
            </a:r>
            <a:endParaRPr lang="en-US" sz="1200" dirty="0"/>
          </a:p>
        </p:txBody>
      </p:sp>
      <p:sp>
        <p:nvSpPr>
          <p:cNvPr id="74" name="Text 56"/>
          <p:cNvSpPr txBox="1"/>
          <p:nvPr/>
        </p:nvSpPr>
        <p:spPr>
          <a:xfrm>
            <a:off x="1162202" y="7134149"/>
            <a:ext cx="22795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Shortlist 50-100 sellers</a:t>
            </a:r>
            <a:endParaRPr lang="en-US" sz="1200" dirty="0"/>
          </a:p>
        </p:txBody>
      </p:sp>
      <p:pic>
        <p:nvPicPr>
          <p:cNvPr id="75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301" b="-301"/>
          <a:stretch/>
        </p:blipFill>
        <p:spPr>
          <a:xfrm>
            <a:off x="1123798" y="6143854"/>
            <a:ext cx="75895" cy="152705"/>
          </a:xfrm>
          <a:prstGeom prst="rect">
            <a:avLst/>
          </a:prstGeom>
        </p:spPr>
      </p:pic>
      <p:sp>
        <p:nvSpPr>
          <p:cNvPr id="76" name="Text 57"/>
          <p:cNvSpPr txBox="1"/>
          <p:nvPr/>
        </p:nvSpPr>
        <p:spPr>
          <a:xfrm>
            <a:off x="1837944" y="5038344"/>
            <a:ext cx="724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1-2</a:t>
            </a:r>
            <a:endParaRPr lang="en-US" sz="900" dirty="0"/>
          </a:p>
        </p:txBody>
      </p:sp>
      <p:sp>
        <p:nvSpPr>
          <p:cNvPr id="77" name="Shape 58"/>
          <p:cNvSpPr/>
          <p:nvPr/>
        </p:nvSpPr>
        <p:spPr>
          <a:xfrm>
            <a:off x="2083918" y="5038344"/>
            <a:ext cx="228600" cy="2286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CA43B"/>
            </a:solidFill>
            <a:prstDash val="solid"/>
          </a:ln>
        </p:spPr>
      </p:sp>
      <p:sp>
        <p:nvSpPr>
          <p:cNvPr id="78" name="Shape 59"/>
          <p:cNvSpPr/>
          <p:nvPr/>
        </p:nvSpPr>
        <p:spPr>
          <a:xfrm>
            <a:off x="2159813" y="5115154"/>
            <a:ext cx="75895" cy="7589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60"/>
          <p:cNvSpPr txBox="1"/>
          <p:nvPr/>
        </p:nvSpPr>
        <p:spPr>
          <a:xfrm>
            <a:off x="4223614" y="5410505"/>
            <a:ext cx="11987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2: PILOT</a:t>
            </a:r>
            <a:endParaRPr lang="en-US" sz="1000" dirty="0"/>
          </a:p>
        </p:txBody>
      </p:sp>
      <p:sp>
        <p:nvSpPr>
          <p:cNvPr id="80" name="Text 61"/>
          <p:cNvSpPr txBox="1"/>
          <p:nvPr/>
        </p:nvSpPr>
        <p:spPr>
          <a:xfrm>
            <a:off x="4001414" y="5639105"/>
            <a:ext cx="16440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"Proof of Concept"</a:t>
            </a:r>
            <a:endParaRPr lang="en-US" sz="1200" dirty="0"/>
          </a:p>
        </p:txBody>
      </p:sp>
      <p:sp>
        <p:nvSpPr>
          <p:cNvPr id="81" name="Shape 62"/>
          <p:cNvSpPr/>
          <p:nvPr/>
        </p:nvSpPr>
        <p:spPr>
          <a:xfrm>
            <a:off x="3624682" y="5982005"/>
            <a:ext cx="2400300" cy="1086307"/>
          </a:xfrm>
          <a:prstGeom prst="roundRect">
            <a:avLst>
              <a:gd name="adj" fmla="val 590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2" name="Text 63"/>
          <p:cNvSpPr txBox="1"/>
          <p:nvPr/>
        </p:nvSpPr>
        <p:spPr>
          <a:xfrm>
            <a:off x="3957523" y="6105449"/>
            <a:ext cx="639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Targets</a:t>
            </a:r>
            <a:endParaRPr lang="en-US" sz="1200" dirty="0"/>
          </a:p>
        </p:txBody>
      </p:sp>
      <p:sp>
        <p:nvSpPr>
          <p:cNvPr id="83" name="Shape 64"/>
          <p:cNvSpPr/>
          <p:nvPr/>
        </p:nvSpPr>
        <p:spPr>
          <a:xfrm>
            <a:off x="5019142" y="6105449"/>
            <a:ext cx="886054" cy="228600"/>
          </a:xfrm>
          <a:prstGeom prst="roundRect">
            <a:avLst>
              <a:gd name="adj" fmla="val 133333"/>
            </a:avLst>
          </a:prstGeom>
          <a:solidFill>
            <a:srgbClr val="BFDB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Text 65"/>
          <p:cNvSpPr txBox="1"/>
          <p:nvPr/>
        </p:nvSpPr>
        <p:spPr>
          <a:xfrm>
            <a:off x="5019142" y="6105449"/>
            <a:ext cx="96286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0" rIns="381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8% Comm.</a:t>
            </a:r>
            <a:endParaRPr lang="en-US" sz="1200" dirty="0"/>
          </a:p>
        </p:txBody>
      </p:sp>
      <p:sp>
        <p:nvSpPr>
          <p:cNvPr id="85" name="Shape 66"/>
          <p:cNvSpPr/>
          <p:nvPr/>
        </p:nvSpPr>
        <p:spPr>
          <a:xfrm>
            <a:off x="3748126" y="6409944"/>
            <a:ext cx="1037844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Text 67"/>
          <p:cNvSpPr txBox="1"/>
          <p:nvPr/>
        </p:nvSpPr>
        <p:spPr>
          <a:xfrm>
            <a:off x="3748126" y="6448349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10-15</a:t>
            </a:r>
            <a:endParaRPr lang="en-US" sz="1200" dirty="0"/>
          </a:p>
        </p:txBody>
      </p:sp>
      <p:sp>
        <p:nvSpPr>
          <p:cNvPr id="87" name="Text 68"/>
          <p:cNvSpPr txBox="1"/>
          <p:nvPr/>
        </p:nvSpPr>
        <p:spPr>
          <a:xfrm>
            <a:off x="3748126" y="6676949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Sellers</a:t>
            </a:r>
            <a:endParaRPr lang="en-US" sz="1200" dirty="0"/>
          </a:p>
        </p:txBody>
      </p:sp>
      <p:sp>
        <p:nvSpPr>
          <p:cNvPr id="88" name="Shape 69"/>
          <p:cNvSpPr/>
          <p:nvPr/>
        </p:nvSpPr>
        <p:spPr>
          <a:xfrm>
            <a:off x="4860036" y="6409944"/>
            <a:ext cx="1037844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Text 70"/>
          <p:cNvSpPr txBox="1"/>
          <p:nvPr/>
        </p:nvSpPr>
        <p:spPr>
          <a:xfrm>
            <a:off x="4860036" y="6448349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</a:t>
            </a:r>
            <a:endParaRPr lang="en-US" sz="1200" dirty="0"/>
          </a:p>
        </p:txBody>
      </p:sp>
      <p:sp>
        <p:nvSpPr>
          <p:cNvPr id="90" name="Text 71"/>
          <p:cNvSpPr txBox="1"/>
          <p:nvPr/>
        </p:nvSpPr>
        <p:spPr>
          <a:xfrm>
            <a:off x="4860036" y="6676949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Orders/Mo</a:t>
            </a:r>
            <a:endParaRPr lang="en-US" sz="1200" dirty="0"/>
          </a:p>
        </p:txBody>
      </p:sp>
      <p:pic>
        <p:nvPicPr>
          <p:cNvPr id="91" name="Image 17" descr="preencoded.png">    </p:cNvPr>
          <p:cNvPicPr>
            <a:picLocks noChangeAspect="1"/>
          </p:cNvPicPr>
          <p:nvPr/>
        </p:nvPicPr>
        <p:blipFill>
          <a:blip r:embed="rId18"/>
          <a:srcRect l="-33" r="-33" t="0" b="0"/>
          <a:stretch/>
        </p:blipFill>
        <p:spPr>
          <a:xfrm>
            <a:off x="3748126" y="6143854"/>
            <a:ext cx="171907" cy="152705"/>
          </a:xfrm>
          <a:prstGeom prst="rect">
            <a:avLst/>
          </a:prstGeom>
        </p:spPr>
      </p:pic>
      <p:sp>
        <p:nvSpPr>
          <p:cNvPr id="92" name="Text 72"/>
          <p:cNvSpPr txBox="1"/>
          <p:nvPr/>
        </p:nvSpPr>
        <p:spPr>
          <a:xfrm>
            <a:off x="4446727" y="5038344"/>
            <a:ext cx="7525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3-4</a:t>
            </a:r>
            <a:endParaRPr lang="en-US" sz="900" dirty="0"/>
          </a:p>
        </p:txBody>
      </p:sp>
      <p:sp>
        <p:nvSpPr>
          <p:cNvPr id="93" name="Shape 73"/>
          <p:cNvSpPr/>
          <p:nvPr/>
        </p:nvSpPr>
        <p:spPr>
          <a:xfrm>
            <a:off x="4707331" y="5038344"/>
            <a:ext cx="228600" cy="2286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CA43B"/>
            </a:solidFill>
            <a:prstDash val="solid"/>
          </a:ln>
        </p:spPr>
      </p:sp>
      <p:sp>
        <p:nvSpPr>
          <p:cNvPr id="94" name="Shape 74"/>
          <p:cNvSpPr/>
          <p:nvPr/>
        </p:nvSpPr>
        <p:spPr>
          <a:xfrm>
            <a:off x="4784141" y="5115154"/>
            <a:ext cx="75895" cy="7589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Text 75"/>
          <p:cNvSpPr txBox="1"/>
          <p:nvPr/>
        </p:nvSpPr>
        <p:spPr>
          <a:xfrm>
            <a:off x="6601054" y="5410505"/>
            <a:ext cx="15462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3: EXPANSION</a:t>
            </a:r>
            <a:endParaRPr lang="en-US" sz="1000" dirty="0"/>
          </a:p>
        </p:txBody>
      </p:sp>
      <p:sp>
        <p:nvSpPr>
          <p:cNvPr id="96" name="Text 76"/>
          <p:cNvSpPr txBox="1"/>
          <p:nvPr/>
        </p:nvSpPr>
        <p:spPr>
          <a:xfrm>
            <a:off x="6505956" y="5639105"/>
            <a:ext cx="17346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"Controlled Growth"</a:t>
            </a:r>
            <a:endParaRPr lang="en-US" sz="1200" dirty="0"/>
          </a:p>
        </p:txBody>
      </p:sp>
      <p:sp>
        <p:nvSpPr>
          <p:cNvPr id="97" name="Shape 77"/>
          <p:cNvSpPr/>
          <p:nvPr/>
        </p:nvSpPr>
        <p:spPr>
          <a:xfrm>
            <a:off x="6172200" y="5982005"/>
            <a:ext cx="2400300" cy="1276502"/>
          </a:xfrm>
          <a:prstGeom prst="roundRect">
            <a:avLst>
              <a:gd name="adj" fmla="val 4277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Text 78"/>
          <p:cNvSpPr txBox="1"/>
          <p:nvPr/>
        </p:nvSpPr>
        <p:spPr>
          <a:xfrm>
            <a:off x="6505042" y="6105449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Targets</a:t>
            </a:r>
            <a:endParaRPr lang="en-US" sz="1200" dirty="0"/>
          </a:p>
        </p:txBody>
      </p:sp>
      <p:sp>
        <p:nvSpPr>
          <p:cNvPr id="99" name="Text 79"/>
          <p:cNvSpPr txBox="1"/>
          <p:nvPr/>
        </p:nvSpPr>
        <p:spPr>
          <a:xfrm>
            <a:off x="6295644" y="6372454"/>
            <a:ext cx="6355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Sellers:</a:t>
            </a:r>
            <a:endParaRPr lang="en-US" sz="1200" dirty="0"/>
          </a:p>
        </p:txBody>
      </p:sp>
      <p:sp>
        <p:nvSpPr>
          <p:cNvPr id="100" name="Text 80"/>
          <p:cNvSpPr txBox="1"/>
          <p:nvPr/>
        </p:nvSpPr>
        <p:spPr>
          <a:xfrm>
            <a:off x="7973568" y="6372454"/>
            <a:ext cx="553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30-50</a:t>
            </a:r>
            <a:endParaRPr lang="en-US" sz="1200" dirty="0"/>
          </a:p>
        </p:txBody>
      </p:sp>
      <p:sp>
        <p:nvSpPr>
          <p:cNvPr id="101" name="Text 81"/>
          <p:cNvSpPr txBox="1"/>
          <p:nvPr/>
        </p:nvSpPr>
        <p:spPr>
          <a:xfrm>
            <a:off x="6295644" y="6638544"/>
            <a:ext cx="827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Products:</a:t>
            </a:r>
            <a:endParaRPr lang="en-US" sz="1200" dirty="0"/>
          </a:p>
        </p:txBody>
      </p:sp>
      <p:sp>
        <p:nvSpPr>
          <p:cNvPr id="102" name="Text 82"/>
          <p:cNvSpPr txBox="1"/>
          <p:nvPr/>
        </p:nvSpPr>
        <p:spPr>
          <a:xfrm>
            <a:off x="7814462" y="6638544"/>
            <a:ext cx="759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1.5k - 3k</a:t>
            </a:r>
            <a:endParaRPr lang="en-US" sz="1200" dirty="0"/>
          </a:p>
        </p:txBody>
      </p:sp>
      <p:sp>
        <p:nvSpPr>
          <p:cNvPr id="103" name="Text 83"/>
          <p:cNvSpPr txBox="1"/>
          <p:nvPr/>
        </p:nvSpPr>
        <p:spPr>
          <a:xfrm>
            <a:off x="6295644" y="6905549"/>
            <a:ext cx="940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Fulfillment:</a:t>
            </a:r>
            <a:endParaRPr lang="en-US" sz="1200" dirty="0"/>
          </a:p>
        </p:txBody>
      </p:sp>
      <p:sp>
        <p:nvSpPr>
          <p:cNvPr id="104" name="Text 84"/>
          <p:cNvSpPr txBox="1"/>
          <p:nvPr/>
        </p:nvSpPr>
        <p:spPr>
          <a:xfrm>
            <a:off x="7971739" y="6905549"/>
            <a:ext cx="553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96%</a:t>
            </a:r>
            <a:endParaRPr lang="en-US" sz="1200" dirty="0"/>
          </a:p>
        </p:txBody>
      </p:sp>
      <p:pic>
        <p:nvPicPr>
          <p:cNvPr id="105" name="Image 18" descr="preencoded.png">    </p:cNvPr>
          <p:cNvPicPr>
            <a:picLocks noChangeAspect="1"/>
          </p:cNvPicPr>
          <p:nvPr/>
        </p:nvPicPr>
        <p:blipFill>
          <a:blip r:embed="rId19"/>
          <a:srcRect l="-33" r="-33" t="0" b="0"/>
          <a:stretch/>
        </p:blipFill>
        <p:spPr>
          <a:xfrm>
            <a:off x="6295644" y="6143854"/>
            <a:ext cx="171907" cy="152705"/>
          </a:xfrm>
          <a:prstGeom prst="rect">
            <a:avLst/>
          </a:prstGeom>
        </p:spPr>
      </p:pic>
      <p:sp>
        <p:nvSpPr>
          <p:cNvPr id="106" name="Text 85"/>
          <p:cNvSpPr txBox="1"/>
          <p:nvPr/>
        </p:nvSpPr>
        <p:spPr>
          <a:xfrm>
            <a:off x="7002475" y="5038344"/>
            <a:ext cx="7434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5-7</a:t>
            </a:r>
            <a:endParaRPr lang="en-US" sz="900" dirty="0"/>
          </a:p>
        </p:txBody>
      </p:sp>
      <p:sp>
        <p:nvSpPr>
          <p:cNvPr id="107" name="Shape 86"/>
          <p:cNvSpPr/>
          <p:nvPr/>
        </p:nvSpPr>
        <p:spPr>
          <a:xfrm>
            <a:off x="7255764" y="5038344"/>
            <a:ext cx="228600" cy="2286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CA43B"/>
            </a:solidFill>
            <a:prstDash val="solid"/>
          </a:ln>
        </p:spPr>
      </p:sp>
      <p:sp>
        <p:nvSpPr>
          <p:cNvPr id="108" name="Shape 87"/>
          <p:cNvSpPr/>
          <p:nvPr/>
        </p:nvSpPr>
        <p:spPr>
          <a:xfrm>
            <a:off x="7331659" y="5115154"/>
            <a:ext cx="75895" cy="7589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Text 88"/>
          <p:cNvSpPr txBox="1"/>
          <p:nvPr/>
        </p:nvSpPr>
        <p:spPr>
          <a:xfrm>
            <a:off x="9180576" y="5410505"/>
            <a:ext cx="1629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4: FULL SCALE</a:t>
            </a:r>
            <a:endParaRPr lang="en-US" sz="1000" dirty="0"/>
          </a:p>
        </p:txBody>
      </p:sp>
      <p:sp>
        <p:nvSpPr>
          <p:cNvPr id="110" name="Text 89"/>
          <p:cNvSpPr txBox="1"/>
          <p:nvPr/>
        </p:nvSpPr>
        <p:spPr>
          <a:xfrm>
            <a:off x="9108338" y="5639105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"Market Leadership"</a:t>
            </a:r>
            <a:endParaRPr lang="en-US" sz="1200" dirty="0"/>
          </a:p>
        </p:txBody>
      </p:sp>
      <p:pic>
        <p:nvPicPr>
          <p:cNvPr id="111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4" b="-4"/>
          <a:stretch/>
        </p:blipFill>
        <p:spPr>
          <a:xfrm>
            <a:off x="8796528" y="5982005"/>
            <a:ext cx="2395728" cy="933602"/>
          </a:xfrm>
          <a:prstGeom prst="rect">
            <a:avLst/>
          </a:prstGeom>
        </p:spPr>
      </p:pic>
      <p:sp>
        <p:nvSpPr>
          <p:cNvPr id="112" name="Text 90"/>
          <p:cNvSpPr txBox="1"/>
          <p:nvPr/>
        </p:nvSpPr>
        <p:spPr>
          <a:xfrm>
            <a:off x="9082735" y="6096305"/>
            <a:ext cx="2086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Year 1 Goal</a:t>
            </a:r>
            <a:endParaRPr lang="en-US" sz="1200" dirty="0"/>
          </a:p>
        </p:txBody>
      </p:sp>
      <p:sp>
        <p:nvSpPr>
          <p:cNvPr id="113" name="Text 91"/>
          <p:cNvSpPr txBox="1"/>
          <p:nvPr/>
        </p:nvSpPr>
        <p:spPr>
          <a:xfrm>
            <a:off x="8910828" y="6400800"/>
            <a:ext cx="1124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1300" dirty="0"/>
          </a:p>
        </p:txBody>
      </p:sp>
      <p:sp>
        <p:nvSpPr>
          <p:cNvPr id="114" name="Text 92"/>
          <p:cNvSpPr txBox="1"/>
          <p:nvPr/>
        </p:nvSpPr>
        <p:spPr>
          <a:xfrm>
            <a:off x="8910828" y="6572707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Sellers</a:t>
            </a:r>
            <a:endParaRPr lang="en-US" sz="1200" dirty="0"/>
          </a:p>
        </p:txBody>
      </p:sp>
      <p:sp>
        <p:nvSpPr>
          <p:cNvPr id="115" name="Text 93"/>
          <p:cNvSpPr txBox="1"/>
          <p:nvPr/>
        </p:nvSpPr>
        <p:spPr>
          <a:xfrm>
            <a:off x="10031882" y="6400800"/>
            <a:ext cx="1124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4k</a:t>
            </a:r>
            <a:endParaRPr lang="en-US" sz="1300" dirty="0"/>
          </a:p>
        </p:txBody>
      </p:sp>
      <p:sp>
        <p:nvSpPr>
          <p:cNvPr id="116" name="Text 94"/>
          <p:cNvSpPr txBox="1"/>
          <p:nvPr/>
        </p:nvSpPr>
        <p:spPr>
          <a:xfrm>
            <a:off x="10031882" y="6572707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Orders/Mo</a:t>
            </a:r>
            <a:endParaRPr lang="en-US" sz="1200" dirty="0"/>
          </a:p>
        </p:txBody>
      </p:sp>
      <p:pic>
        <p:nvPicPr>
          <p:cNvPr id="117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-43" b="-43"/>
          <a:stretch/>
        </p:blipFill>
        <p:spPr>
          <a:xfrm>
            <a:off x="8910828" y="6133795"/>
            <a:ext cx="133502" cy="152705"/>
          </a:xfrm>
          <a:prstGeom prst="rect">
            <a:avLst/>
          </a:prstGeom>
        </p:spPr>
      </p:pic>
      <p:sp>
        <p:nvSpPr>
          <p:cNvPr id="118" name="Text 95"/>
          <p:cNvSpPr txBox="1"/>
          <p:nvPr/>
        </p:nvSpPr>
        <p:spPr>
          <a:xfrm>
            <a:off x="9595714" y="5038344"/>
            <a:ext cx="800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8-12</a:t>
            </a:r>
            <a:endParaRPr lang="en-US" sz="900" dirty="0"/>
          </a:p>
        </p:txBody>
      </p:sp>
      <p:sp>
        <p:nvSpPr>
          <p:cNvPr id="119" name="Shape 96"/>
          <p:cNvSpPr/>
          <p:nvPr/>
        </p:nvSpPr>
        <p:spPr>
          <a:xfrm>
            <a:off x="9880092" y="5038344"/>
            <a:ext cx="228600" cy="2286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CA43B"/>
            </a:solidFill>
            <a:prstDash val="solid"/>
          </a:ln>
        </p:spPr>
      </p:sp>
      <p:sp>
        <p:nvSpPr>
          <p:cNvPr id="120" name="Shape 97"/>
          <p:cNvSpPr/>
          <p:nvPr/>
        </p:nvSpPr>
        <p:spPr>
          <a:xfrm>
            <a:off x="9955987" y="5115154"/>
            <a:ext cx="75895" cy="7589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1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1" b="-1"/>
          <a:stretch/>
        </p:blipFill>
        <p:spPr>
          <a:xfrm>
            <a:off x="0" y="0"/>
            <a:ext cx="12191695" cy="914400"/>
          </a:xfrm>
          <a:prstGeom prst="rect">
            <a:avLst/>
          </a:prstGeom>
        </p:spPr>
      </p:pic>
      <p:sp>
        <p:nvSpPr>
          <p:cNvPr id="122" name="Shape 98"/>
          <p:cNvSpPr/>
          <p:nvPr/>
        </p:nvSpPr>
        <p:spPr>
          <a:xfrm>
            <a:off x="457200" y="26700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CCA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3" name="Image 22" descr="preencoded.png">    </p:cNvPr>
          <p:cNvPicPr>
            <a:picLocks noChangeAspect="1"/>
          </p:cNvPicPr>
          <p:nvPr/>
        </p:nvPicPr>
        <p:blipFill>
          <a:blip r:embed="rId23"/>
          <a:srcRect l="-1282" r="-1282" t="0" b="0"/>
          <a:stretch/>
        </p:blipFill>
        <p:spPr>
          <a:xfrm>
            <a:off x="538582" y="362102"/>
            <a:ext cx="219456" cy="190195"/>
          </a:xfrm>
          <a:prstGeom prst="rect">
            <a:avLst/>
          </a:prstGeom>
        </p:spPr>
      </p:pic>
      <p:sp>
        <p:nvSpPr>
          <p:cNvPr id="124" name="Text 99"/>
          <p:cNvSpPr txBox="1"/>
          <p:nvPr/>
        </p:nvSpPr>
        <p:spPr>
          <a:xfrm>
            <a:off x="990295" y="228600"/>
            <a:ext cx="370789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 Acquisition Strategy</a:t>
            </a:r>
            <a:endParaRPr lang="en-US" sz="1800" dirty="0"/>
          </a:p>
        </p:txBody>
      </p:sp>
      <p:sp>
        <p:nvSpPr>
          <p:cNvPr id="125" name="Text 100"/>
          <p:cNvSpPr txBox="1"/>
          <p:nvPr/>
        </p:nvSpPr>
        <p:spPr>
          <a:xfrm>
            <a:off x="990295" y="533095"/>
            <a:ext cx="3238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"Complement, Don't Compete"</a:t>
            </a:r>
            <a:endParaRPr lang="en-US" sz="900" dirty="0"/>
          </a:p>
        </p:txBody>
      </p:sp>
      <p:sp>
        <p:nvSpPr>
          <p:cNvPr id="126" name="Text 101"/>
          <p:cNvSpPr txBox="1"/>
          <p:nvPr/>
        </p:nvSpPr>
        <p:spPr>
          <a:xfrm>
            <a:off x="9977018" y="247802"/>
            <a:ext cx="17629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Phased Expansion</a:t>
            </a:r>
            <a:endParaRPr lang="en-US" sz="1300" dirty="0"/>
          </a:p>
        </p:txBody>
      </p:sp>
      <p:sp>
        <p:nvSpPr>
          <p:cNvPr id="127" name="Text 102"/>
          <p:cNvSpPr txBox="1"/>
          <p:nvPr/>
        </p:nvSpPr>
        <p:spPr>
          <a:xfrm>
            <a:off x="10120579" y="514807"/>
            <a:ext cx="1619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12-Month Roadmap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61695"/>
            <a:ext cx="12191695" cy="6096305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304495" y="1067105"/>
            <a:ext cx="3708806" cy="1619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5002" y="1314907"/>
            <a:ext cx="142372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Monthly Costs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5605" y="1340510"/>
            <a:ext cx="133502" cy="13350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21178" y="1295705"/>
            <a:ext cx="809244" cy="228600"/>
          </a:xfrm>
          <a:prstGeom prst="roundRect">
            <a:avLst>
              <a:gd name="adj" fmla="val 133333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021178" y="1295705"/>
            <a:ext cx="8668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MMK 2.15M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95605" y="1867205"/>
            <a:ext cx="33339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95605" y="1638605"/>
            <a:ext cx="14173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&amp; Tech Stack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3354934" y="1638605"/>
            <a:ext cx="553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690,000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95605" y="2219249"/>
            <a:ext cx="33339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95605" y="1990649"/>
            <a:ext cx="1491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Personnel (Mgmt + CS)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3304642" y="1990649"/>
            <a:ext cx="6236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1,140,000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495605" y="2343607"/>
            <a:ext cx="10652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Ops &amp; Marketing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3384194" y="2343607"/>
            <a:ext cx="5148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315,000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-14" r="-14" t="0" b="0"/>
          <a:stretch/>
        </p:blipFill>
        <p:spPr>
          <a:xfrm>
            <a:off x="304495" y="2876702"/>
            <a:ext cx="3708806" cy="19046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5800" y="3105302"/>
            <a:ext cx="1353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 per Order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495605" y="3130906"/>
            <a:ext cx="114300" cy="1335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836469" y="3124505"/>
            <a:ext cx="11027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MMK 10,500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95605" y="3409798"/>
            <a:ext cx="1609344" cy="533095"/>
          </a:xfrm>
          <a:prstGeom prst="roundRect">
            <a:avLst>
              <a:gd name="adj" fmla="val 24504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33095" y="3486607"/>
            <a:ext cx="1534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33095" y="3715207"/>
            <a:ext cx="15343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2,250 - 3,750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2216506" y="3409798"/>
            <a:ext cx="1609344" cy="533095"/>
          </a:xfrm>
          <a:prstGeom prst="roundRect">
            <a:avLst>
              <a:gd name="adj" fmla="val 24504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2253996" y="3486607"/>
            <a:ext cx="1534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2253996" y="3715207"/>
            <a:ext cx="15343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2.9% + 450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95605" y="4058107"/>
            <a:ext cx="1609344" cy="533095"/>
          </a:xfrm>
          <a:prstGeom prst="roundRect">
            <a:avLst>
              <a:gd name="adj" fmla="val 24504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33095" y="4134002"/>
            <a:ext cx="1534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533095" y="4362602"/>
            <a:ext cx="15343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450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2216506" y="4058107"/>
            <a:ext cx="1609344" cy="533095"/>
          </a:xfrm>
          <a:prstGeom prst="roundRect">
            <a:avLst>
              <a:gd name="adj" fmla="val 24504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2253996" y="4134002"/>
            <a:ext cx="1534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Insurance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2253996" y="4362602"/>
            <a:ext cx="15343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1.5% (&gt;150k)</a:t>
            </a:r>
            <a:endParaRPr lang="en-US" sz="9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-8" r="-8" t="0" b="0"/>
          <a:stretch/>
        </p:blipFill>
        <p:spPr>
          <a:xfrm>
            <a:off x="304495" y="4972507"/>
            <a:ext cx="3708806" cy="338693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76656" y="5162702"/>
            <a:ext cx="3267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CA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Commission Strategy</a:t>
            </a:r>
            <a:endParaRPr lang="en-US" sz="10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-2512" r="-2512" t="0" b="0"/>
          <a:stretch/>
        </p:blipFill>
        <p:spPr>
          <a:xfrm>
            <a:off x="495605" y="5188306"/>
            <a:ext cx="105156" cy="13350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66344" y="6003950"/>
            <a:ext cx="514807" cy="247802"/>
          </a:xfrm>
          <a:prstGeom prst="rect">
            <a:avLst/>
          </a:prstGeom>
          <a:noFill/>
          <a:ln w="12700">
            <a:solidFill>
              <a:srgbClr val="4B5563"/>
            </a:solidFill>
          </a:ln>
        </p:spPr>
        <p:txBody>
          <a:bodyPr wrap="square" lIns="0" tIns="38100" rIns="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8%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1067105" y="5937199"/>
            <a:ext cx="1933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Phase (M 1-4)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067105" y="6088990"/>
            <a:ext cx="22110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Incentivize early adoption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495605" y="6546190"/>
            <a:ext cx="457200" cy="228600"/>
          </a:xfrm>
          <a:prstGeom prst="roundRect">
            <a:avLst>
              <a:gd name="adj" fmla="val 133333"/>
            </a:avLst>
          </a:prstGeom>
          <a:solidFill>
            <a:srgbClr val="CCA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466344" y="6546190"/>
            <a:ext cx="5148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38100" rIns="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12%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1067105" y="6470294"/>
            <a:ext cx="14685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A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Rate (M 5+)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1067105" y="6622999"/>
            <a:ext cx="15197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platform fee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495605" y="7003390"/>
            <a:ext cx="3333902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495605" y="7127748"/>
            <a:ext cx="3448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Incentives (Month 9+)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457200" y="7432243"/>
            <a:ext cx="476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457200" y="7584948"/>
            <a:ext cx="476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12%</a:t>
            </a:r>
            <a:endParaRPr lang="en-US" sz="900" dirty="0"/>
          </a:p>
        </p:txBody>
      </p:sp>
      <p:sp>
        <p:nvSpPr>
          <p:cNvPr id="48" name="Text 40"/>
          <p:cNvSpPr txBox="1"/>
          <p:nvPr/>
        </p:nvSpPr>
        <p:spPr>
          <a:xfrm>
            <a:off x="2028139" y="7432243"/>
            <a:ext cx="400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2028139" y="7584948"/>
            <a:ext cx="400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3525926" y="7432243"/>
            <a:ext cx="342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</a:t>
            </a:r>
            <a:endParaRPr lang="en-US" sz="900" dirty="0"/>
          </a:p>
        </p:txBody>
      </p:sp>
      <p:sp>
        <p:nvSpPr>
          <p:cNvPr id="51" name="Text 43"/>
          <p:cNvSpPr txBox="1"/>
          <p:nvPr/>
        </p:nvSpPr>
        <p:spPr>
          <a:xfrm>
            <a:off x="3525926" y="7584948"/>
            <a:ext cx="342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8%</a:t>
            </a:r>
            <a:endParaRPr lang="en-US" sz="900" dirty="0"/>
          </a:p>
        </p:txBody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3" b="-3"/>
          <a:stretch/>
        </p:blipFill>
        <p:spPr>
          <a:xfrm>
            <a:off x="4241902" y="1067105"/>
            <a:ext cx="7645298" cy="4511650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4470502" y="1295705"/>
            <a:ext cx="362285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12-Month Profitability Projection</a:t>
            </a:r>
            <a:endParaRPr lang="en-US" sz="1300" dirty="0"/>
          </a:p>
        </p:txBody>
      </p:sp>
      <p:sp>
        <p:nvSpPr>
          <p:cNvPr id="54" name="Text 45"/>
          <p:cNvSpPr txBox="1"/>
          <p:nvPr/>
        </p:nvSpPr>
        <p:spPr>
          <a:xfrm>
            <a:off x="4470502" y="1561795"/>
            <a:ext cx="38825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Comparing Commission Revenue vs. Total Operational Costs</a:t>
            </a:r>
            <a:endParaRPr lang="en-US" sz="900" dirty="0"/>
          </a:p>
        </p:txBody>
      </p:sp>
      <p:sp>
        <p:nvSpPr>
          <p:cNvPr id="55" name="Text 46"/>
          <p:cNvSpPr txBox="1"/>
          <p:nvPr/>
        </p:nvSpPr>
        <p:spPr>
          <a:xfrm>
            <a:off x="9078163" y="1295705"/>
            <a:ext cx="7342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9078163" y="1314907"/>
            <a:ext cx="114300" cy="114300"/>
          </a:xfrm>
          <a:prstGeom prst="ellipse">
            <a:avLst/>
          </a:prstGeom>
          <a:solidFill>
            <a:srgbClr val="CCA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8"/>
          <p:cNvSpPr txBox="1"/>
          <p:nvPr/>
        </p:nvSpPr>
        <p:spPr>
          <a:xfrm>
            <a:off x="9888322" y="1295705"/>
            <a:ext cx="9052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Costs</a:t>
            </a:r>
            <a:endParaRPr lang="en-US" sz="900" dirty="0"/>
          </a:p>
        </p:txBody>
      </p:sp>
      <p:sp>
        <p:nvSpPr>
          <p:cNvPr id="58" name="Shape 49"/>
          <p:cNvSpPr/>
          <p:nvPr/>
        </p:nvSpPr>
        <p:spPr>
          <a:xfrm>
            <a:off x="9888322" y="1314907"/>
            <a:ext cx="114300" cy="1143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10863986" y="1295705"/>
            <a:ext cx="876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Costs</a:t>
            </a:r>
            <a:endParaRPr lang="en-US" sz="900" dirty="0"/>
          </a:p>
        </p:txBody>
      </p:sp>
      <p:sp>
        <p:nvSpPr>
          <p:cNvPr id="60" name="Shape 51"/>
          <p:cNvSpPr/>
          <p:nvPr/>
        </p:nvSpPr>
        <p:spPr>
          <a:xfrm>
            <a:off x="10863986" y="1314907"/>
            <a:ext cx="114300" cy="1143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54" b="-54"/>
          <a:stretch/>
        </p:blipFill>
        <p:spPr>
          <a:xfrm>
            <a:off x="4470502" y="1790395"/>
            <a:ext cx="7191756" cy="4058107"/>
          </a:xfrm>
          <a:prstGeom prst="rect">
            <a:avLst/>
          </a:prstGeom>
        </p:spPr>
      </p:pic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9">
            <a:alphaModFix amt="10000"/>
          </a:blip>
          <a:srcRect l="-23" r="-23" t="0" b="0"/>
          <a:stretch/>
        </p:blipFill>
        <p:spPr>
          <a:xfrm>
            <a:off x="6806794" y="5501945"/>
            <a:ext cx="1524305" cy="1218895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4470502" y="6334963"/>
            <a:ext cx="3372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CCA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Point</a:t>
            </a:r>
            <a:endParaRPr lang="en-US" sz="900" dirty="0"/>
          </a:p>
        </p:txBody>
      </p:sp>
      <p:sp>
        <p:nvSpPr>
          <p:cNvPr id="64" name="Text 53"/>
          <p:cNvSpPr txBox="1"/>
          <p:nvPr/>
        </p:nvSpPr>
        <p:spPr>
          <a:xfrm>
            <a:off x="4470502" y="6563563"/>
            <a:ext cx="6848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215</a:t>
            </a:r>
            <a:endParaRPr lang="en-US" sz="2700" dirty="0"/>
          </a:p>
        </p:txBody>
      </p:sp>
      <p:sp>
        <p:nvSpPr>
          <p:cNvPr id="65" name="Text 54"/>
          <p:cNvSpPr txBox="1"/>
          <p:nvPr/>
        </p:nvSpPr>
        <p:spPr>
          <a:xfrm>
            <a:off x="5123383" y="6735470"/>
            <a:ext cx="11109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 / month</a:t>
            </a:r>
            <a:endParaRPr lang="en-US" sz="1000" dirty="0"/>
          </a:p>
        </p:txBody>
      </p:sp>
      <p:sp>
        <p:nvSpPr>
          <p:cNvPr id="66" name="Shape 55"/>
          <p:cNvSpPr/>
          <p:nvPr/>
        </p:nvSpPr>
        <p:spPr>
          <a:xfrm>
            <a:off x="4470502" y="7250278"/>
            <a:ext cx="3258007" cy="9144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67" name="Text 56"/>
          <p:cNvSpPr txBox="1"/>
          <p:nvPr/>
        </p:nvSpPr>
        <p:spPr>
          <a:xfrm>
            <a:off x="4470502" y="6983273"/>
            <a:ext cx="3333902" cy="1536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approx. 4 orders per seller (at 60 sellers)</a:t>
            </a:r>
            <a:endParaRPr lang="en-US" sz="900" dirty="0"/>
          </a:p>
        </p:txBody>
      </p:sp>
      <p:sp>
        <p:nvSpPr>
          <p:cNvPr id="68" name="Text 57"/>
          <p:cNvSpPr txBox="1"/>
          <p:nvPr/>
        </p:nvSpPr>
        <p:spPr>
          <a:xfrm>
            <a:off x="4470502" y="7411212"/>
            <a:ext cx="1629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Gross Profit</a:t>
            </a:r>
            <a:endParaRPr lang="en-US" sz="1200" dirty="0"/>
          </a:p>
        </p:txBody>
      </p:sp>
      <p:sp>
        <p:nvSpPr>
          <p:cNvPr id="69" name="Text 58"/>
          <p:cNvSpPr txBox="1"/>
          <p:nvPr/>
        </p:nvSpPr>
        <p:spPr>
          <a:xfrm>
            <a:off x="4470502" y="7639812"/>
            <a:ext cx="1629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MMK 10,000</a:t>
            </a:r>
            <a:endParaRPr lang="en-US" sz="1000" dirty="0"/>
          </a:p>
        </p:txBody>
      </p:sp>
      <p:sp>
        <p:nvSpPr>
          <p:cNvPr id="70" name="Text 59"/>
          <p:cNvSpPr txBox="1"/>
          <p:nvPr/>
        </p:nvSpPr>
        <p:spPr>
          <a:xfrm>
            <a:off x="6172200" y="7411212"/>
            <a:ext cx="1629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Month</a:t>
            </a:r>
            <a:endParaRPr lang="en-US" sz="1200" dirty="0"/>
          </a:p>
        </p:txBody>
      </p:sp>
      <p:sp>
        <p:nvSpPr>
          <p:cNvPr id="71" name="Text 60"/>
          <p:cNvSpPr txBox="1"/>
          <p:nvPr/>
        </p:nvSpPr>
        <p:spPr>
          <a:xfrm>
            <a:off x="6172200" y="7639812"/>
            <a:ext cx="1629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9</a:t>
            </a:r>
            <a:endParaRPr lang="en-US" sz="1000" dirty="0"/>
          </a:p>
        </p:txBody>
      </p:sp>
      <p:pic>
        <p:nvPicPr>
          <p:cNvPr id="72" name="Image 9" descr="preencoded.png">    </p:cNvPr>
          <p:cNvPicPr>
            <a:picLocks noChangeAspect="1"/>
          </p:cNvPicPr>
          <p:nvPr/>
        </p:nvPicPr>
        <p:blipFill>
          <a:blip r:embed="rId10"/>
          <a:srcRect l="-7" r="-7" t="0" b="0"/>
          <a:stretch/>
        </p:blipFill>
        <p:spPr>
          <a:xfrm>
            <a:off x="8178394" y="5806440"/>
            <a:ext cx="3708806" cy="2552090"/>
          </a:xfrm>
          <a:prstGeom prst="rect">
            <a:avLst/>
          </a:prstGeom>
        </p:spPr>
      </p:pic>
      <p:sp>
        <p:nvSpPr>
          <p:cNvPr id="73" name="Text 61"/>
          <p:cNvSpPr txBox="1"/>
          <p:nvPr/>
        </p:nvSpPr>
        <p:spPr>
          <a:xfrm>
            <a:off x="8369503" y="5997550"/>
            <a:ext cx="3448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 Scenarios</a:t>
            </a:r>
            <a:endParaRPr lang="en-US" sz="1000" dirty="0"/>
          </a:p>
        </p:txBody>
      </p:sp>
      <p:sp>
        <p:nvSpPr>
          <p:cNvPr id="74" name="Shape 62"/>
          <p:cNvSpPr/>
          <p:nvPr/>
        </p:nvSpPr>
        <p:spPr>
          <a:xfrm>
            <a:off x="8369503" y="6549847"/>
            <a:ext cx="3333902" cy="629107"/>
          </a:xfrm>
          <a:prstGeom prst="roundRect">
            <a:avLst>
              <a:gd name="adj" fmla="val 1761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7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492947" y="6711696"/>
            <a:ext cx="304495" cy="304495"/>
          </a:xfrm>
          <a:prstGeom prst="rect">
            <a:avLst/>
          </a:prstGeom>
        </p:spPr>
      </p:pic>
      <p:pic>
        <p:nvPicPr>
          <p:cNvPr id="7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588045" y="6806794"/>
            <a:ext cx="114300" cy="114300"/>
          </a:xfrm>
          <a:prstGeom prst="rect">
            <a:avLst/>
          </a:prstGeom>
        </p:spPr>
      </p:pic>
      <p:sp>
        <p:nvSpPr>
          <p:cNvPr id="77" name="Text 63"/>
          <p:cNvSpPr txBox="1"/>
          <p:nvPr/>
        </p:nvSpPr>
        <p:spPr>
          <a:xfrm>
            <a:off x="8911742" y="6673291"/>
            <a:ext cx="15343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Watch</a:t>
            </a:r>
            <a:endParaRPr lang="en-US" sz="900" dirty="0"/>
          </a:p>
        </p:txBody>
      </p:sp>
      <p:sp>
        <p:nvSpPr>
          <p:cNvPr id="78" name="Text 64"/>
          <p:cNvSpPr txBox="1"/>
          <p:nvPr/>
        </p:nvSpPr>
        <p:spPr>
          <a:xfrm>
            <a:off x="8911742" y="6825996"/>
            <a:ext cx="17346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Price: 225k | Vol: 25</a:t>
            </a:r>
            <a:endParaRPr lang="en-US" sz="1200" dirty="0"/>
          </a:p>
        </p:txBody>
      </p:sp>
      <p:sp>
        <p:nvSpPr>
          <p:cNvPr id="79" name="Text 65"/>
          <p:cNvSpPr txBox="1"/>
          <p:nvPr/>
        </p:nvSpPr>
        <p:spPr>
          <a:xfrm>
            <a:off x="10813694" y="6673291"/>
            <a:ext cx="762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MMK 311k</a:t>
            </a:r>
            <a:endParaRPr lang="en-US" sz="900" dirty="0"/>
          </a:p>
        </p:txBody>
      </p:sp>
      <p:sp>
        <p:nvSpPr>
          <p:cNvPr id="80" name="Text 66"/>
          <p:cNvSpPr txBox="1"/>
          <p:nvPr/>
        </p:nvSpPr>
        <p:spPr>
          <a:xfrm>
            <a:off x="10759745" y="6825996"/>
            <a:ext cx="81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Profit</a:t>
            </a:r>
            <a:endParaRPr lang="en-US" sz="1200" dirty="0"/>
          </a:p>
        </p:txBody>
      </p:sp>
      <p:sp>
        <p:nvSpPr>
          <p:cNvPr id="81" name="Shape 67"/>
          <p:cNvSpPr/>
          <p:nvPr/>
        </p:nvSpPr>
        <p:spPr>
          <a:xfrm>
            <a:off x="8369503" y="7292340"/>
            <a:ext cx="3333902" cy="629107"/>
          </a:xfrm>
          <a:prstGeom prst="roundRect">
            <a:avLst>
              <a:gd name="adj" fmla="val 17618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8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492947" y="7454189"/>
            <a:ext cx="304495" cy="304495"/>
          </a:xfrm>
          <a:prstGeom prst="rect">
            <a:avLst/>
          </a:prstGeom>
        </p:spPr>
      </p:pic>
      <p:pic>
        <p:nvPicPr>
          <p:cNvPr id="83" name="Image 13" descr="preencoded.png">    </p:cNvPr>
          <p:cNvPicPr>
            <a:picLocks noChangeAspect="1"/>
          </p:cNvPicPr>
          <p:nvPr/>
        </p:nvPicPr>
        <p:blipFill>
          <a:blip r:embed="rId14"/>
          <a:srcRect l="-133" r="-133" t="0" b="0"/>
          <a:stretch/>
        </p:blipFill>
        <p:spPr>
          <a:xfrm>
            <a:off x="8602675" y="7549286"/>
            <a:ext cx="85954" cy="114300"/>
          </a:xfrm>
          <a:prstGeom prst="rect">
            <a:avLst/>
          </a:prstGeom>
        </p:spPr>
      </p:pic>
      <p:sp>
        <p:nvSpPr>
          <p:cNvPr id="84" name="Text 68"/>
          <p:cNvSpPr txBox="1"/>
          <p:nvPr/>
        </p:nvSpPr>
        <p:spPr>
          <a:xfrm>
            <a:off x="8911742" y="7416698"/>
            <a:ext cx="1619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Cheap Gadget</a:t>
            </a:r>
            <a:endParaRPr lang="en-US" sz="900" dirty="0"/>
          </a:p>
        </p:txBody>
      </p:sp>
      <p:sp>
        <p:nvSpPr>
          <p:cNvPr id="85" name="Text 69"/>
          <p:cNvSpPr txBox="1"/>
          <p:nvPr/>
        </p:nvSpPr>
        <p:spPr>
          <a:xfrm>
            <a:off x="8911742" y="7568489"/>
            <a:ext cx="183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Price: 37.5k | Vol: 100</a:t>
            </a:r>
            <a:endParaRPr lang="en-US" sz="1200" dirty="0"/>
          </a:p>
        </p:txBody>
      </p:sp>
      <p:sp>
        <p:nvSpPr>
          <p:cNvPr id="86" name="Text 70"/>
          <p:cNvSpPr txBox="1"/>
          <p:nvPr/>
        </p:nvSpPr>
        <p:spPr>
          <a:xfrm>
            <a:off x="10813694" y="7416698"/>
            <a:ext cx="762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MMK 270k</a:t>
            </a:r>
            <a:endParaRPr lang="en-US" sz="900" dirty="0"/>
          </a:p>
        </p:txBody>
      </p:sp>
      <p:sp>
        <p:nvSpPr>
          <p:cNvPr id="87" name="Text 71"/>
          <p:cNvSpPr txBox="1"/>
          <p:nvPr/>
        </p:nvSpPr>
        <p:spPr>
          <a:xfrm>
            <a:off x="10813694" y="7568489"/>
            <a:ext cx="762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Loss</a:t>
            </a:r>
            <a:endParaRPr lang="en-US" sz="1200" dirty="0"/>
          </a:p>
        </p:txBody>
      </p:sp>
      <p:pic>
        <p:nvPicPr>
          <p:cNvPr id="88" name="Image 14" descr="preencoded.png">    </p:cNvPr>
          <p:cNvPicPr>
            <a:picLocks noChangeAspect="1"/>
          </p:cNvPicPr>
          <p:nvPr/>
        </p:nvPicPr>
        <p:blipFill>
          <a:blip r:embed="rId15"/>
          <a:srcRect l="-19" r="-19" t="0" b="0"/>
          <a:stretch/>
        </p:blipFill>
        <p:spPr>
          <a:xfrm>
            <a:off x="0" y="0"/>
            <a:ext cx="12191695" cy="761695"/>
          </a:xfrm>
          <a:prstGeom prst="rect">
            <a:avLst/>
          </a:prstGeom>
        </p:spPr>
      </p:pic>
      <p:pic>
        <p:nvPicPr>
          <p:cNvPr id="89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381305" y="190195"/>
            <a:ext cx="381305" cy="381305"/>
          </a:xfrm>
          <a:prstGeom prst="rect">
            <a:avLst/>
          </a:prstGeom>
        </p:spPr>
      </p:pic>
      <p:pic>
        <p:nvPicPr>
          <p:cNvPr id="90" name="Image 16" descr="preencoded.png">    </p:cNvPr>
          <p:cNvPicPr>
            <a:picLocks noChangeAspect="1"/>
          </p:cNvPicPr>
          <p:nvPr/>
        </p:nvPicPr>
        <p:blipFill>
          <a:blip r:embed="rId17"/>
          <a:srcRect l="-1282" r="-1282" t="0" b="0"/>
          <a:stretch/>
        </p:blipFill>
        <p:spPr>
          <a:xfrm>
            <a:off x="461772" y="286207"/>
            <a:ext cx="219456" cy="190195"/>
          </a:xfrm>
          <a:prstGeom prst="rect">
            <a:avLst/>
          </a:prstGeom>
        </p:spPr>
      </p:pic>
      <p:sp>
        <p:nvSpPr>
          <p:cNvPr id="91" name="Text 72"/>
          <p:cNvSpPr txBox="1"/>
          <p:nvPr/>
        </p:nvSpPr>
        <p:spPr>
          <a:xfrm>
            <a:off x="914400" y="152705"/>
            <a:ext cx="282366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Model</a:t>
            </a:r>
            <a:endParaRPr lang="en-US" sz="1800" dirty="0"/>
          </a:p>
        </p:txBody>
      </p:sp>
      <p:sp>
        <p:nvSpPr>
          <p:cNvPr id="92" name="Text 73"/>
          <p:cNvSpPr txBox="1"/>
          <p:nvPr/>
        </p:nvSpPr>
        <p:spPr>
          <a:xfrm>
            <a:off x="914400" y="457200"/>
            <a:ext cx="29260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to Profitability &amp; Unit Economics</a:t>
            </a:r>
            <a:endParaRPr lang="en-US" sz="900" dirty="0"/>
          </a:p>
        </p:txBody>
      </p:sp>
      <p:sp>
        <p:nvSpPr>
          <p:cNvPr id="93" name="Shape 74"/>
          <p:cNvSpPr/>
          <p:nvPr/>
        </p:nvSpPr>
        <p:spPr>
          <a:xfrm>
            <a:off x="10422331" y="171907"/>
            <a:ext cx="9144" cy="418795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94" name="Text 75"/>
          <p:cNvSpPr txBox="1"/>
          <p:nvPr/>
        </p:nvSpPr>
        <p:spPr>
          <a:xfrm>
            <a:off x="8793785" y="171907"/>
            <a:ext cx="14008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Break-Even</a:t>
            </a:r>
            <a:endParaRPr lang="en-US" sz="900" dirty="0"/>
          </a:p>
        </p:txBody>
      </p:sp>
      <p:sp>
        <p:nvSpPr>
          <p:cNvPr id="95" name="Text 76"/>
          <p:cNvSpPr txBox="1"/>
          <p:nvPr/>
        </p:nvSpPr>
        <p:spPr>
          <a:xfrm>
            <a:off x="8793785" y="323698"/>
            <a:ext cx="14008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CA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~215 Orders</a:t>
            </a:r>
            <a:endParaRPr lang="en-US" sz="1300" dirty="0"/>
          </a:p>
        </p:txBody>
      </p:sp>
      <p:sp>
        <p:nvSpPr>
          <p:cNvPr id="96" name="Text 77"/>
          <p:cNvSpPr txBox="1"/>
          <p:nvPr/>
        </p:nvSpPr>
        <p:spPr>
          <a:xfrm>
            <a:off x="10581437" y="171907"/>
            <a:ext cx="1239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1 GMV Target</a:t>
            </a:r>
            <a:endParaRPr lang="en-US" sz="900" dirty="0"/>
          </a:p>
        </p:txBody>
      </p:sp>
      <p:sp>
        <p:nvSpPr>
          <p:cNvPr id="97" name="Text 78"/>
          <p:cNvSpPr txBox="1"/>
          <p:nvPr/>
        </p:nvSpPr>
        <p:spPr>
          <a:xfrm>
            <a:off x="10581437" y="323698"/>
            <a:ext cx="1239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MMK 6.75B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61695"/>
            <a:ext cx="12191695" cy="6096305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2298" y="1067105"/>
            <a:ext cx="114492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Core Operational Workflow 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4495" y="1114654"/>
            <a:ext cx="171907" cy="171907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2" r="-2" t="0" b="0"/>
          <a:stretch/>
        </p:blipFill>
        <p:spPr>
          <a:xfrm>
            <a:off x="304495" y="1561795"/>
            <a:ext cx="2723998" cy="29333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438351" y="1981505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548079" y="2115007"/>
            <a:ext cx="237744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88290" y="2514600"/>
            <a:ext cx="23582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 Onboarding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-2571" r="-2571" t="0" b="0"/>
          <a:stretch/>
        </p:blipFill>
        <p:spPr>
          <a:xfrm>
            <a:off x="533095" y="3105302"/>
            <a:ext cx="105156" cy="1143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14146" y="3066898"/>
            <a:ext cx="192755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&amp; Doc Submission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533095" y="3372307"/>
            <a:ext cx="105156" cy="1143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714146" y="3333902"/>
            <a:ext cx="200710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&amp; Authenticity Vetting</a:t>
            </a:r>
            <a:endParaRPr lang="en-US" sz="9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533095" y="3638398"/>
            <a:ext cx="105156" cy="1143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714146" y="3600907"/>
            <a:ext cx="192755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Training (Mandatory)</a:t>
            </a:r>
            <a:endParaRPr lang="en-US" sz="9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533095" y="3905402"/>
            <a:ext cx="105156" cy="11430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714146" y="3866998"/>
            <a:ext cx="15307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&amp; API Credentials</a:t>
            </a:r>
            <a:endParaRPr lang="en-US" sz="9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rcRect l="-2" r="-2" t="0" b="0"/>
          <a:stretch/>
        </p:blipFill>
        <p:spPr>
          <a:xfrm>
            <a:off x="3258007" y="1561795"/>
            <a:ext cx="2723998" cy="2933395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4390949" y="1981505"/>
            <a:ext cx="457200" cy="4572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rcRect l="-1282" r="-1282" t="0" b="0"/>
          <a:stretch/>
        </p:blipFill>
        <p:spPr>
          <a:xfrm>
            <a:off x="4509821" y="2115007"/>
            <a:ext cx="219456" cy="190195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3440887" y="2514600"/>
            <a:ext cx="23582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Management</a:t>
            </a:r>
            <a:endParaRPr lang="en-US" sz="100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3486607" y="3105302"/>
            <a:ext cx="105156" cy="114300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3666744" y="3066898"/>
            <a:ext cx="18141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Listing Upload</a:t>
            </a:r>
            <a:endParaRPr lang="en-US" sz="90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rcRect l="-2571" r="-2571" t="0" b="0"/>
          <a:stretch/>
        </p:blipFill>
        <p:spPr>
          <a:xfrm>
            <a:off x="3486607" y="3372307"/>
            <a:ext cx="105156" cy="114300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3666744" y="3333902"/>
            <a:ext cx="17757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Review (Image 1200px+)</a:t>
            </a:r>
            <a:endParaRPr lang="en-US" sz="90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3486607" y="3638398"/>
            <a:ext cx="105156" cy="114300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3666744" y="3600907"/>
            <a:ext cx="16212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Inventory Sync</a:t>
            </a:r>
            <a:endParaRPr lang="en-US" sz="900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rcRect l="-2571" r="-2571" t="0" b="0"/>
          <a:stretch/>
        </p:blipFill>
        <p:spPr>
          <a:xfrm>
            <a:off x="3486607" y="3905402"/>
            <a:ext cx="105156" cy="114300"/>
          </a:xfrm>
          <a:prstGeom prst="rect">
            <a:avLst/>
          </a:prstGeom>
        </p:spPr>
      </p:pic>
      <p:sp>
        <p:nvSpPr>
          <p:cNvPr id="30" name="Text 15"/>
          <p:cNvSpPr txBox="1"/>
          <p:nvPr/>
        </p:nvSpPr>
        <p:spPr>
          <a:xfrm>
            <a:off x="3666744" y="3866998"/>
            <a:ext cx="145115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Stock Auto-Alerts</a:t>
            </a:r>
            <a:endParaRPr lang="en-US" sz="900" dirty="0"/>
          </a:p>
        </p:txBody>
      </p:sp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rcRect l="-2" r="-2" t="0" b="0"/>
          <a:stretch/>
        </p:blipFill>
        <p:spPr>
          <a:xfrm>
            <a:off x="6210605" y="1561795"/>
            <a:ext cx="2723998" cy="2933395"/>
          </a:xfrm>
          <a:prstGeom prst="rect">
            <a:avLst/>
          </a:prstGeom>
        </p:spPr>
      </p:pic>
      <p:pic>
        <p:nvPicPr>
          <p:cNvPr id="32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7453274" y="2115007"/>
            <a:ext cx="237744" cy="190195"/>
          </a:xfrm>
          <a:prstGeom prst="rect">
            <a:avLst/>
          </a:prstGeom>
        </p:spPr>
      </p:pic>
      <p:sp>
        <p:nvSpPr>
          <p:cNvPr id="33" name="Text 16"/>
          <p:cNvSpPr txBox="1"/>
          <p:nvPr/>
        </p:nvSpPr>
        <p:spPr>
          <a:xfrm>
            <a:off x="6393485" y="2514600"/>
            <a:ext cx="23582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Fulfillment</a:t>
            </a:r>
            <a:endParaRPr lang="en-US" sz="1000" dirty="0"/>
          </a:p>
        </p:txBody>
      </p:sp>
      <p:pic>
        <p:nvPicPr>
          <p:cNvPr id="34" name="Image 15" descr="preencoded.png">    </p:cNvPr>
          <p:cNvPicPr>
            <a:picLocks noChangeAspect="1"/>
          </p:cNvPicPr>
          <p:nvPr/>
        </p:nvPicPr>
        <p:blipFill>
          <a:blip r:embed="rId16"/>
          <a:srcRect l="-2571" r="-2571" t="0" b="0"/>
          <a:stretch/>
        </p:blipFill>
        <p:spPr>
          <a:xfrm>
            <a:off x="6439205" y="3105302"/>
            <a:ext cx="105156" cy="114300"/>
          </a:xfrm>
          <a:prstGeom prst="rect">
            <a:avLst/>
          </a:prstGeom>
        </p:spPr>
      </p:pic>
      <p:sp>
        <p:nvSpPr>
          <p:cNvPr id="35" name="Text 17"/>
          <p:cNvSpPr txBox="1"/>
          <p:nvPr/>
        </p:nvSpPr>
        <p:spPr>
          <a:xfrm>
            <a:off x="6620256" y="3066898"/>
            <a:ext cx="138348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Auto-routing to Seller</a:t>
            </a:r>
            <a:endParaRPr lang="en-US" sz="900" dirty="0"/>
          </a:p>
        </p:txBody>
      </p:sp>
      <p:pic>
        <p:nvPicPr>
          <p:cNvPr id="36" name="Image 16" descr="preencoded.png">    </p:cNvPr>
          <p:cNvPicPr>
            <a:picLocks noChangeAspect="1"/>
          </p:cNvPicPr>
          <p:nvPr/>
        </p:nvPicPr>
        <p:blipFill>
          <a:blip r:embed="rId17"/>
          <a:srcRect l="-2571" r="-2571" t="0" b="0"/>
          <a:stretch/>
        </p:blipFill>
        <p:spPr>
          <a:xfrm>
            <a:off x="6439205" y="3372307"/>
            <a:ext cx="105156" cy="114300"/>
          </a:xfrm>
          <a:prstGeom prst="rect">
            <a:avLst/>
          </a:prstGeom>
        </p:spPr>
      </p:pic>
      <p:sp>
        <p:nvSpPr>
          <p:cNvPr id="37" name="Text 18"/>
          <p:cNvSpPr txBox="1"/>
          <p:nvPr/>
        </p:nvSpPr>
        <p:spPr>
          <a:xfrm>
            <a:off x="6620256" y="3333902"/>
            <a:ext cx="14401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 Confirm (&lt; 24h)</a:t>
            </a:r>
            <a:endParaRPr lang="en-US" sz="900" dirty="0"/>
          </a:p>
        </p:txBody>
      </p:sp>
      <p:pic>
        <p:nvPicPr>
          <p:cNvPr id="38" name="Image 17" descr="preencoded.png">    </p:cNvPr>
          <p:cNvPicPr>
            <a:picLocks noChangeAspect="1"/>
          </p:cNvPicPr>
          <p:nvPr/>
        </p:nvPicPr>
        <p:blipFill>
          <a:blip r:embed="rId18"/>
          <a:srcRect l="-2571" r="-2571" t="0" b="0"/>
          <a:stretch/>
        </p:blipFill>
        <p:spPr>
          <a:xfrm>
            <a:off x="6439205" y="3638398"/>
            <a:ext cx="105156" cy="114300"/>
          </a:xfrm>
          <a:prstGeom prst="rect">
            <a:avLst/>
          </a:prstGeom>
        </p:spPr>
      </p:pic>
      <p:sp>
        <p:nvSpPr>
          <p:cNvPr id="39" name="Text 19"/>
          <p:cNvSpPr txBox="1"/>
          <p:nvPr/>
        </p:nvSpPr>
        <p:spPr>
          <a:xfrm>
            <a:off x="6620256" y="3600907"/>
            <a:ext cx="1562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KHIT ZAY Standard Pack</a:t>
            </a:r>
            <a:endParaRPr lang="en-US" sz="900" dirty="0"/>
          </a:p>
        </p:txBody>
      </p:sp>
      <p:pic>
        <p:nvPicPr>
          <p:cNvPr id="40" name="Image 18" descr="preencoded.png">    </p:cNvPr>
          <p:cNvPicPr>
            <a:picLocks noChangeAspect="1"/>
          </p:cNvPicPr>
          <p:nvPr/>
        </p:nvPicPr>
        <p:blipFill>
          <a:blip r:embed="rId19"/>
          <a:srcRect l="-2571" r="-2571" t="0" b="0"/>
          <a:stretch/>
        </p:blipFill>
        <p:spPr>
          <a:xfrm>
            <a:off x="6439205" y="3905402"/>
            <a:ext cx="105156" cy="114300"/>
          </a:xfrm>
          <a:prstGeom prst="rect">
            <a:avLst/>
          </a:prstGeom>
        </p:spPr>
      </p:pic>
      <p:sp>
        <p:nvSpPr>
          <p:cNvPr id="41" name="Text 20"/>
          <p:cNvSpPr txBox="1"/>
          <p:nvPr/>
        </p:nvSpPr>
        <p:spPr>
          <a:xfrm>
            <a:off x="6620256" y="3866998"/>
            <a:ext cx="16212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Pickup &amp; Real-time Track</a:t>
            </a:r>
            <a:endParaRPr lang="en-US" sz="900" dirty="0"/>
          </a:p>
        </p:txBody>
      </p:sp>
      <p:pic>
        <p:nvPicPr>
          <p:cNvPr id="42" name="Image 19" descr="preencoded.png">    </p:cNvPr>
          <p:cNvPicPr>
            <a:picLocks noChangeAspect="1"/>
          </p:cNvPicPr>
          <p:nvPr/>
        </p:nvPicPr>
        <p:blipFill>
          <a:blip r:embed="rId20"/>
          <a:srcRect l="-2" r="-2" t="0" b="0"/>
          <a:stretch/>
        </p:blipFill>
        <p:spPr>
          <a:xfrm>
            <a:off x="9163202" y="1561795"/>
            <a:ext cx="2723998" cy="2933395"/>
          </a:xfrm>
          <a:prstGeom prst="rect">
            <a:avLst/>
          </a:prstGeom>
        </p:spPr>
      </p:pic>
      <p:sp>
        <p:nvSpPr>
          <p:cNvPr id="43" name="Shape 21"/>
          <p:cNvSpPr/>
          <p:nvPr/>
        </p:nvSpPr>
        <p:spPr>
          <a:xfrm>
            <a:off x="10296144" y="1981505"/>
            <a:ext cx="457200" cy="4572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10429646" y="2115007"/>
            <a:ext cx="190195" cy="190195"/>
          </a:xfrm>
          <a:prstGeom prst="rect">
            <a:avLst/>
          </a:prstGeom>
        </p:spPr>
      </p:pic>
      <p:sp>
        <p:nvSpPr>
          <p:cNvPr id="45" name="Text 22"/>
          <p:cNvSpPr txBox="1"/>
          <p:nvPr/>
        </p:nvSpPr>
        <p:spPr>
          <a:xfrm>
            <a:off x="9346082" y="2514600"/>
            <a:ext cx="23582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 &amp; Returns</a:t>
            </a:r>
            <a:endParaRPr lang="en-US" sz="1000" dirty="0"/>
          </a:p>
        </p:txBody>
      </p:sp>
      <p:pic>
        <p:nvPicPr>
          <p:cNvPr id="46" name="Image 21" descr="preencoded.png">    </p:cNvPr>
          <p:cNvPicPr>
            <a:picLocks noChangeAspect="1"/>
          </p:cNvPicPr>
          <p:nvPr/>
        </p:nvPicPr>
        <p:blipFill>
          <a:blip r:embed="rId22"/>
          <a:srcRect l="-2571" r="-2571" t="0" b="0"/>
          <a:stretch/>
        </p:blipFill>
        <p:spPr>
          <a:xfrm>
            <a:off x="9391802" y="3105302"/>
            <a:ext cx="105156" cy="114300"/>
          </a:xfrm>
          <a:prstGeom prst="rect">
            <a:avLst/>
          </a:prstGeom>
        </p:spPr>
      </p:pic>
      <p:sp>
        <p:nvSpPr>
          <p:cNvPr id="47" name="Text 23"/>
          <p:cNvSpPr txBox="1"/>
          <p:nvPr/>
        </p:nvSpPr>
        <p:spPr>
          <a:xfrm>
            <a:off x="9572854" y="3066898"/>
            <a:ext cx="142097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Omni-channel Support</a:t>
            </a:r>
            <a:endParaRPr lang="en-US" sz="900" dirty="0"/>
          </a:p>
        </p:txBody>
      </p:sp>
      <p:pic>
        <p:nvPicPr>
          <p:cNvPr id="48" name="Image 22" descr="preencoded.png">    </p:cNvPr>
          <p:cNvPicPr>
            <a:picLocks noChangeAspect="1"/>
          </p:cNvPicPr>
          <p:nvPr/>
        </p:nvPicPr>
        <p:blipFill>
          <a:blip r:embed="rId23"/>
          <a:srcRect l="-2571" r="-2571" t="0" b="0"/>
          <a:stretch/>
        </p:blipFill>
        <p:spPr>
          <a:xfrm>
            <a:off x="9391802" y="3372307"/>
            <a:ext cx="105156" cy="114300"/>
          </a:xfrm>
          <a:prstGeom prst="rect">
            <a:avLst/>
          </a:prstGeom>
        </p:spPr>
      </p:pic>
      <p:sp>
        <p:nvSpPr>
          <p:cNvPr id="49" name="Text 24"/>
          <p:cNvSpPr txBox="1"/>
          <p:nvPr/>
        </p:nvSpPr>
        <p:spPr>
          <a:xfrm>
            <a:off x="9572854" y="3333902"/>
            <a:ext cx="149687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RMA Portal</a:t>
            </a:r>
            <a:endParaRPr lang="en-US" sz="900" dirty="0"/>
          </a:p>
        </p:txBody>
      </p:sp>
      <p:pic>
        <p:nvPicPr>
          <p:cNvPr id="50" name="Image 23" descr="preencoded.png">    </p:cNvPr>
          <p:cNvPicPr>
            <a:picLocks noChangeAspect="1"/>
          </p:cNvPicPr>
          <p:nvPr/>
        </p:nvPicPr>
        <p:blipFill>
          <a:blip r:embed="rId24"/>
          <a:srcRect l="-2571" r="-2571" t="0" b="0"/>
          <a:stretch/>
        </p:blipFill>
        <p:spPr>
          <a:xfrm>
            <a:off x="9391802" y="3638398"/>
            <a:ext cx="105156" cy="114300"/>
          </a:xfrm>
          <a:prstGeom prst="rect">
            <a:avLst/>
          </a:prstGeom>
        </p:spPr>
      </p:pic>
      <p:sp>
        <p:nvSpPr>
          <p:cNvPr id="51" name="Text 25"/>
          <p:cNvSpPr txBox="1"/>
          <p:nvPr/>
        </p:nvSpPr>
        <p:spPr>
          <a:xfrm>
            <a:off x="9572854" y="3600907"/>
            <a:ext cx="14630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 Inspection (48h)</a:t>
            </a:r>
            <a:endParaRPr lang="en-US" sz="900" dirty="0"/>
          </a:p>
        </p:txBody>
      </p:sp>
      <p:pic>
        <p:nvPicPr>
          <p:cNvPr id="52" name="Image 24" descr="preencoded.png">    </p:cNvPr>
          <p:cNvPicPr>
            <a:picLocks noChangeAspect="1"/>
          </p:cNvPicPr>
          <p:nvPr/>
        </p:nvPicPr>
        <p:blipFill>
          <a:blip r:embed="rId25"/>
          <a:srcRect l="-2571" r="-2571" t="0" b="0"/>
          <a:stretch/>
        </p:blipFill>
        <p:spPr>
          <a:xfrm>
            <a:off x="9391802" y="3905402"/>
            <a:ext cx="105156" cy="114300"/>
          </a:xfrm>
          <a:prstGeom prst="rect">
            <a:avLst/>
          </a:prstGeom>
        </p:spPr>
      </p:pic>
      <p:sp>
        <p:nvSpPr>
          <p:cNvPr id="53" name="Text 26"/>
          <p:cNvSpPr txBox="1"/>
          <p:nvPr/>
        </p:nvSpPr>
        <p:spPr>
          <a:xfrm>
            <a:off x="9572854" y="3866998"/>
            <a:ext cx="16212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Refund Credit (3-5 Days)</a:t>
            </a:r>
            <a:endParaRPr lang="en-US" sz="900" dirty="0"/>
          </a:p>
        </p:txBody>
      </p:sp>
      <p:pic>
        <p:nvPicPr>
          <p:cNvPr id="54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-6" b="-6"/>
          <a:stretch/>
        </p:blipFill>
        <p:spPr>
          <a:xfrm>
            <a:off x="304495" y="4724705"/>
            <a:ext cx="7645298" cy="2553005"/>
          </a:xfrm>
          <a:prstGeom prst="rect">
            <a:avLst/>
          </a:prstGeom>
        </p:spPr>
      </p:pic>
      <p:sp>
        <p:nvSpPr>
          <p:cNvPr id="55" name="Text 27"/>
          <p:cNvSpPr txBox="1"/>
          <p:nvPr/>
        </p:nvSpPr>
        <p:spPr>
          <a:xfrm>
            <a:off x="743407" y="4972507"/>
            <a:ext cx="30083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Service Level Agreement (SLA)</a:t>
            </a:r>
            <a:endParaRPr lang="en-US" sz="1000" dirty="0"/>
          </a:p>
        </p:txBody>
      </p:sp>
      <p:pic>
        <p:nvPicPr>
          <p:cNvPr id="56" name="Image 26" descr="preencoded.png">    </p:cNvPr>
          <p:cNvPicPr>
            <a:picLocks noChangeAspect="1"/>
          </p:cNvPicPr>
          <p:nvPr/>
        </p:nvPicPr>
        <p:blipFill>
          <a:blip r:embed="rId27"/>
          <a:srcRect l="-1507" r="-1507" t="0" b="0"/>
          <a:stretch/>
        </p:blipFill>
        <p:spPr>
          <a:xfrm>
            <a:off x="495605" y="4998110"/>
            <a:ext cx="171907" cy="133502"/>
          </a:xfrm>
          <a:prstGeom prst="rect">
            <a:avLst/>
          </a:prstGeom>
        </p:spPr>
      </p:pic>
      <p:sp>
        <p:nvSpPr>
          <p:cNvPr id="57" name="Shape 28"/>
          <p:cNvSpPr/>
          <p:nvPr/>
        </p:nvSpPr>
        <p:spPr>
          <a:xfrm>
            <a:off x="5701284" y="4914900"/>
            <a:ext cx="2066544" cy="304495"/>
          </a:xfrm>
          <a:prstGeom prst="roundRect">
            <a:avLst>
              <a:gd name="adj" fmla="val 75075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29"/>
          <p:cNvSpPr txBox="1"/>
          <p:nvPr/>
        </p:nvSpPr>
        <p:spPr>
          <a:xfrm>
            <a:off x="5701284" y="4914900"/>
            <a:ext cx="2149754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Benchmark: 95% On-Time</a:t>
            </a:r>
            <a:endParaRPr lang="en-US" sz="1200" dirty="0"/>
          </a:p>
        </p:txBody>
      </p:sp>
      <p:sp>
        <p:nvSpPr>
          <p:cNvPr id="59" name="Shape 30"/>
          <p:cNvSpPr/>
          <p:nvPr/>
        </p:nvSpPr>
        <p:spPr>
          <a:xfrm>
            <a:off x="2915107" y="5695798"/>
            <a:ext cx="9144" cy="99029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0" name="Text 31"/>
          <p:cNvSpPr txBox="1"/>
          <p:nvPr/>
        </p:nvSpPr>
        <p:spPr>
          <a:xfrm>
            <a:off x="605333" y="5695798"/>
            <a:ext cx="219913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Yangon Region</a:t>
            </a:r>
            <a:endParaRPr lang="en-US" sz="900" dirty="0"/>
          </a:p>
        </p:txBody>
      </p:sp>
      <p:sp>
        <p:nvSpPr>
          <p:cNvPr id="61" name="Text 32"/>
          <p:cNvSpPr txBox="1"/>
          <p:nvPr/>
        </p:nvSpPr>
        <p:spPr>
          <a:xfrm>
            <a:off x="605333" y="5886907"/>
            <a:ext cx="219913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A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1-2 </a:t>
            </a:r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</a:t>
            </a:r>
            <a:endParaRPr lang="en-US" sz="1800" dirty="0"/>
          </a:p>
        </p:txBody>
      </p:sp>
      <p:sp>
        <p:nvSpPr>
          <p:cNvPr id="62" name="Text 33"/>
          <p:cNvSpPr txBox="1"/>
          <p:nvPr/>
        </p:nvSpPr>
        <p:spPr>
          <a:xfrm>
            <a:off x="1115568" y="6229807"/>
            <a:ext cx="17227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Same-day express available</a:t>
            </a:r>
            <a:endParaRPr lang="en-US" sz="1200" dirty="0"/>
          </a:p>
        </p:txBody>
      </p:sp>
      <p:pic>
        <p:nvPicPr>
          <p:cNvPr id="63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-43" b="-43"/>
          <a:stretch/>
        </p:blipFill>
        <p:spPr>
          <a:xfrm>
            <a:off x="939089" y="6267298"/>
            <a:ext cx="133502" cy="152705"/>
          </a:xfrm>
          <a:prstGeom prst="rect">
            <a:avLst/>
          </a:prstGeom>
        </p:spPr>
      </p:pic>
      <p:sp>
        <p:nvSpPr>
          <p:cNvPr id="64" name="Shape 34"/>
          <p:cNvSpPr/>
          <p:nvPr/>
        </p:nvSpPr>
        <p:spPr>
          <a:xfrm>
            <a:off x="5336438" y="5810098"/>
            <a:ext cx="9144" cy="76169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5" name="Text 35"/>
          <p:cNvSpPr txBox="1"/>
          <p:nvPr/>
        </p:nvSpPr>
        <p:spPr>
          <a:xfrm>
            <a:off x="3026664" y="5810098"/>
            <a:ext cx="219913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Cities</a:t>
            </a:r>
            <a:endParaRPr lang="en-US" sz="900" dirty="0"/>
          </a:p>
        </p:txBody>
      </p:sp>
      <p:sp>
        <p:nvSpPr>
          <p:cNvPr id="66" name="Text 36"/>
          <p:cNvSpPr txBox="1"/>
          <p:nvPr/>
        </p:nvSpPr>
        <p:spPr>
          <a:xfrm>
            <a:off x="3026664" y="6001207"/>
            <a:ext cx="219913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A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2-3 </a:t>
            </a:r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</a:t>
            </a:r>
            <a:endParaRPr lang="en-US" sz="1800" dirty="0"/>
          </a:p>
        </p:txBody>
      </p:sp>
      <p:sp>
        <p:nvSpPr>
          <p:cNvPr id="67" name="Text 37"/>
          <p:cNvSpPr txBox="1"/>
          <p:nvPr/>
        </p:nvSpPr>
        <p:spPr>
          <a:xfrm>
            <a:off x="3026664" y="6344107"/>
            <a:ext cx="2199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Mandalay, Naypyidaw</a:t>
            </a:r>
            <a:endParaRPr lang="en-US" sz="1200" dirty="0"/>
          </a:p>
        </p:txBody>
      </p:sp>
      <p:sp>
        <p:nvSpPr>
          <p:cNvPr id="68" name="Text 38"/>
          <p:cNvSpPr txBox="1"/>
          <p:nvPr/>
        </p:nvSpPr>
        <p:spPr>
          <a:xfrm>
            <a:off x="5447995" y="5810098"/>
            <a:ext cx="2209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Nationwide</a:t>
            </a:r>
            <a:endParaRPr lang="en-US" sz="900" dirty="0"/>
          </a:p>
        </p:txBody>
      </p:sp>
      <p:sp>
        <p:nvSpPr>
          <p:cNvPr id="69" name="Text 39"/>
          <p:cNvSpPr txBox="1"/>
          <p:nvPr/>
        </p:nvSpPr>
        <p:spPr>
          <a:xfrm>
            <a:off x="5447995" y="6001207"/>
            <a:ext cx="220919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A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3-7 </a:t>
            </a:r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</a:t>
            </a:r>
            <a:endParaRPr lang="en-US" sz="1800" dirty="0"/>
          </a:p>
        </p:txBody>
      </p:sp>
      <p:sp>
        <p:nvSpPr>
          <p:cNvPr id="70" name="Text 40"/>
          <p:cNvSpPr txBox="1"/>
          <p:nvPr/>
        </p:nvSpPr>
        <p:spPr>
          <a:xfrm>
            <a:off x="5447995" y="6344107"/>
            <a:ext cx="2209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Rural Townships</a:t>
            </a:r>
            <a:endParaRPr lang="en-US" sz="1200" dirty="0"/>
          </a:p>
        </p:txBody>
      </p:sp>
      <p:pic>
        <p:nvPicPr>
          <p:cNvPr id="71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-2" b="-2"/>
          <a:stretch/>
        </p:blipFill>
        <p:spPr>
          <a:xfrm>
            <a:off x="8178394" y="4724705"/>
            <a:ext cx="3708806" cy="2553005"/>
          </a:xfrm>
          <a:prstGeom prst="rect">
            <a:avLst/>
          </a:prstGeom>
        </p:spPr>
      </p:pic>
      <p:sp>
        <p:nvSpPr>
          <p:cNvPr id="72" name="Text 41"/>
          <p:cNvSpPr txBox="1"/>
          <p:nvPr/>
        </p:nvSpPr>
        <p:spPr>
          <a:xfrm>
            <a:off x="8617306" y="4914900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CA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 Partners</a:t>
            </a:r>
            <a:endParaRPr lang="en-US" sz="1000" dirty="0"/>
          </a:p>
        </p:txBody>
      </p:sp>
      <p:pic>
        <p:nvPicPr>
          <p:cNvPr id="73" name="Image 29" descr="preencoded.png">    </p:cNvPr>
          <p:cNvPicPr>
            <a:picLocks noChangeAspect="1"/>
          </p:cNvPicPr>
          <p:nvPr/>
        </p:nvPicPr>
        <p:blipFill>
          <a:blip r:embed="rId30"/>
          <a:srcRect l="-1507" r="-1507" t="0" b="0"/>
          <a:stretch/>
        </p:blipFill>
        <p:spPr>
          <a:xfrm>
            <a:off x="8369503" y="4941418"/>
            <a:ext cx="171907" cy="133502"/>
          </a:xfrm>
          <a:prstGeom prst="rect">
            <a:avLst/>
          </a:prstGeom>
        </p:spPr>
      </p:pic>
      <p:sp>
        <p:nvSpPr>
          <p:cNvPr id="74" name="Shape 42"/>
          <p:cNvSpPr/>
          <p:nvPr/>
        </p:nvSpPr>
        <p:spPr>
          <a:xfrm>
            <a:off x="8369503" y="5257800"/>
            <a:ext cx="3333902" cy="533095"/>
          </a:xfrm>
          <a:prstGeom prst="roundRect">
            <a:avLst>
              <a:gd name="adj" fmla="val 2450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43"/>
          <p:cNvSpPr/>
          <p:nvPr/>
        </p:nvSpPr>
        <p:spPr>
          <a:xfrm>
            <a:off x="8445398" y="5372100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44"/>
          <p:cNvSpPr txBox="1"/>
          <p:nvPr/>
        </p:nvSpPr>
        <p:spPr>
          <a:xfrm>
            <a:off x="8406994" y="5372100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J&amp;T</a:t>
            </a:r>
            <a:endParaRPr lang="en-US" sz="1200" dirty="0"/>
          </a:p>
        </p:txBody>
      </p:sp>
      <p:sp>
        <p:nvSpPr>
          <p:cNvPr id="77" name="Text 45"/>
          <p:cNvSpPr txBox="1"/>
          <p:nvPr/>
        </p:nvSpPr>
        <p:spPr>
          <a:xfrm>
            <a:off x="8864194" y="5333695"/>
            <a:ext cx="2179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J&amp;T Express</a:t>
            </a:r>
            <a:endParaRPr lang="en-US" sz="900" dirty="0"/>
          </a:p>
        </p:txBody>
      </p:sp>
      <p:sp>
        <p:nvSpPr>
          <p:cNvPr id="78" name="Text 46"/>
          <p:cNvSpPr txBox="1"/>
          <p:nvPr/>
        </p:nvSpPr>
        <p:spPr>
          <a:xfrm>
            <a:off x="8864194" y="5486400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Partner (Nationwide)</a:t>
            </a:r>
            <a:endParaRPr lang="en-US" sz="1200" dirty="0"/>
          </a:p>
        </p:txBody>
      </p:sp>
      <p:sp>
        <p:nvSpPr>
          <p:cNvPr id="79" name="Shape 47"/>
          <p:cNvSpPr/>
          <p:nvPr/>
        </p:nvSpPr>
        <p:spPr>
          <a:xfrm>
            <a:off x="8369503" y="5905195"/>
            <a:ext cx="3333902" cy="533095"/>
          </a:xfrm>
          <a:prstGeom prst="roundRect">
            <a:avLst>
              <a:gd name="adj" fmla="val 2450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48"/>
          <p:cNvSpPr/>
          <p:nvPr/>
        </p:nvSpPr>
        <p:spPr>
          <a:xfrm>
            <a:off x="8445398" y="601949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49"/>
          <p:cNvSpPr txBox="1"/>
          <p:nvPr/>
        </p:nvSpPr>
        <p:spPr>
          <a:xfrm>
            <a:off x="8406994" y="601949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DHL</a:t>
            </a:r>
            <a:endParaRPr lang="en-US" sz="1200" dirty="0"/>
          </a:p>
        </p:txBody>
      </p:sp>
      <p:sp>
        <p:nvSpPr>
          <p:cNvPr id="82" name="Text 50"/>
          <p:cNvSpPr txBox="1"/>
          <p:nvPr/>
        </p:nvSpPr>
        <p:spPr>
          <a:xfrm>
            <a:off x="8864194" y="5982005"/>
            <a:ext cx="1648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DHL eCommerce</a:t>
            </a:r>
            <a:endParaRPr lang="en-US" sz="900" dirty="0"/>
          </a:p>
        </p:txBody>
      </p:sp>
      <p:sp>
        <p:nvSpPr>
          <p:cNvPr id="83" name="Text 51"/>
          <p:cNvSpPr txBox="1"/>
          <p:nvPr/>
        </p:nvSpPr>
        <p:spPr>
          <a:xfrm>
            <a:off x="8864194" y="6133795"/>
            <a:ext cx="1870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High-Value / Premium</a:t>
            </a:r>
            <a:endParaRPr lang="en-US" sz="1200" dirty="0"/>
          </a:p>
        </p:txBody>
      </p:sp>
      <p:sp>
        <p:nvSpPr>
          <p:cNvPr id="84" name="Shape 52"/>
          <p:cNvSpPr/>
          <p:nvPr/>
        </p:nvSpPr>
        <p:spPr>
          <a:xfrm>
            <a:off x="8369503" y="6553505"/>
            <a:ext cx="3333902" cy="533095"/>
          </a:xfrm>
          <a:prstGeom prst="roundRect">
            <a:avLst>
              <a:gd name="adj" fmla="val 2450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53"/>
          <p:cNvSpPr/>
          <p:nvPr/>
        </p:nvSpPr>
        <p:spPr>
          <a:xfrm>
            <a:off x="8445398" y="666780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Text 54"/>
          <p:cNvSpPr txBox="1"/>
          <p:nvPr/>
        </p:nvSpPr>
        <p:spPr>
          <a:xfrm>
            <a:off x="8406994" y="666780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EMS</a:t>
            </a:r>
            <a:endParaRPr lang="en-US" sz="1200" dirty="0"/>
          </a:p>
        </p:txBody>
      </p:sp>
      <p:sp>
        <p:nvSpPr>
          <p:cNvPr id="87" name="Text 55"/>
          <p:cNvSpPr txBox="1"/>
          <p:nvPr/>
        </p:nvSpPr>
        <p:spPr>
          <a:xfrm>
            <a:off x="8864194" y="6629400"/>
            <a:ext cx="9436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Myanmar Post</a:t>
            </a:r>
            <a:endParaRPr lang="en-US" sz="900" dirty="0"/>
          </a:p>
        </p:txBody>
      </p:sp>
      <p:sp>
        <p:nvSpPr>
          <p:cNvPr id="88" name="Text 56"/>
          <p:cNvSpPr txBox="1"/>
          <p:nvPr/>
        </p:nvSpPr>
        <p:spPr>
          <a:xfrm>
            <a:off x="8864194" y="6782105"/>
            <a:ext cx="1032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Rural Reach</a:t>
            </a:r>
            <a:endParaRPr lang="en-US" sz="1200" dirty="0"/>
          </a:p>
        </p:txBody>
      </p:sp>
      <p:pic>
        <p:nvPicPr>
          <p:cNvPr id="89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-80" b="-80"/>
          <a:stretch/>
        </p:blipFill>
        <p:spPr>
          <a:xfrm>
            <a:off x="3114446" y="2933395"/>
            <a:ext cx="142646" cy="228600"/>
          </a:xfrm>
          <a:prstGeom prst="rect">
            <a:avLst/>
          </a:prstGeom>
        </p:spPr>
      </p:pic>
      <p:pic>
        <p:nvPicPr>
          <p:cNvPr id="90" name="Image 31" descr="preencoded.png">    </p:cNvPr>
          <p:cNvPicPr>
            <a:picLocks noChangeAspect="1"/>
          </p:cNvPicPr>
          <p:nvPr/>
        </p:nvPicPr>
        <p:blipFill>
          <a:blip r:embed="rId32"/>
          <a:srcRect l="0" r="0" t="-80" b="-80"/>
          <a:stretch/>
        </p:blipFill>
        <p:spPr>
          <a:xfrm>
            <a:off x="6067044" y="2933395"/>
            <a:ext cx="142646" cy="228600"/>
          </a:xfrm>
          <a:prstGeom prst="rect">
            <a:avLst/>
          </a:prstGeom>
        </p:spPr>
      </p:pic>
      <p:pic>
        <p:nvPicPr>
          <p:cNvPr id="91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-80" b="-80"/>
          <a:stretch/>
        </p:blipFill>
        <p:spPr>
          <a:xfrm>
            <a:off x="9020556" y="2933395"/>
            <a:ext cx="142646" cy="228600"/>
          </a:xfrm>
          <a:prstGeom prst="rect">
            <a:avLst/>
          </a:prstGeom>
        </p:spPr>
      </p:pic>
      <p:pic>
        <p:nvPicPr>
          <p:cNvPr id="92" name="Image 33" descr="preencoded.png">    </p:cNvPr>
          <p:cNvPicPr>
            <a:picLocks noChangeAspect="1"/>
          </p:cNvPicPr>
          <p:nvPr/>
        </p:nvPicPr>
        <p:blipFill>
          <a:blip r:embed="rId34"/>
          <a:srcRect l="-19" r="-19" t="0" b="0"/>
          <a:stretch/>
        </p:blipFill>
        <p:spPr>
          <a:xfrm>
            <a:off x="0" y="0"/>
            <a:ext cx="12191695" cy="761695"/>
          </a:xfrm>
          <a:prstGeom prst="rect">
            <a:avLst/>
          </a:prstGeom>
        </p:spPr>
      </p:pic>
      <p:pic>
        <p:nvPicPr>
          <p:cNvPr id="93" name="Image 34" descr="preencoded.png">    </p:cNvPr>
          <p:cNvPicPr>
            <a:picLocks noChangeAspect="1"/>
          </p:cNvPicPr>
          <p:nvPr/>
        </p:nvPicPr>
        <p:blipFill>
          <a:blip r:embed="rId35"/>
          <a:srcRect l="0" r="0" t="0" b="0"/>
          <a:stretch/>
        </p:blipFill>
        <p:spPr>
          <a:xfrm>
            <a:off x="381305" y="190195"/>
            <a:ext cx="381305" cy="381305"/>
          </a:xfrm>
          <a:prstGeom prst="rect">
            <a:avLst/>
          </a:prstGeom>
        </p:spPr>
      </p:pic>
      <p:pic>
        <p:nvPicPr>
          <p:cNvPr id="94" name="Image 35" descr="preencoded.png">    </p:cNvPr>
          <p:cNvPicPr>
            <a:picLocks noChangeAspect="1"/>
          </p:cNvPicPr>
          <p:nvPr/>
        </p:nvPicPr>
        <p:blipFill>
          <a:blip r:embed="rId36"/>
          <a:srcRect l="0" r="0" t="0" b="0"/>
          <a:stretch/>
        </p:blipFill>
        <p:spPr>
          <a:xfrm>
            <a:off x="452628" y="286207"/>
            <a:ext cx="237744" cy="190195"/>
          </a:xfrm>
          <a:prstGeom prst="rect">
            <a:avLst/>
          </a:prstGeom>
        </p:spPr>
      </p:pic>
      <p:sp>
        <p:nvSpPr>
          <p:cNvPr id="95" name="Text 57"/>
          <p:cNvSpPr txBox="1"/>
          <p:nvPr/>
        </p:nvSpPr>
        <p:spPr>
          <a:xfrm>
            <a:off x="914400" y="152705"/>
            <a:ext cx="320497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Framework</a:t>
            </a:r>
            <a:endParaRPr lang="en-US" sz="1800" dirty="0"/>
          </a:p>
        </p:txBody>
      </p:sp>
      <p:sp>
        <p:nvSpPr>
          <p:cNvPr id="96" name="Text 58"/>
          <p:cNvSpPr txBox="1"/>
          <p:nvPr/>
        </p:nvSpPr>
        <p:spPr>
          <a:xfrm>
            <a:off x="914400" y="457200"/>
            <a:ext cx="31153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Workflow &amp; Service Standards</a:t>
            </a:r>
            <a:endParaRPr lang="en-US" sz="900" dirty="0"/>
          </a:p>
        </p:txBody>
      </p:sp>
      <p:sp>
        <p:nvSpPr>
          <p:cNvPr id="97" name="Shape 59"/>
          <p:cNvSpPr/>
          <p:nvPr/>
        </p:nvSpPr>
        <p:spPr>
          <a:xfrm>
            <a:off x="10885932" y="171907"/>
            <a:ext cx="9144" cy="418795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98" name="Text 60"/>
          <p:cNvSpPr txBox="1"/>
          <p:nvPr/>
        </p:nvSpPr>
        <p:spPr>
          <a:xfrm>
            <a:off x="9324137" y="171907"/>
            <a:ext cx="1334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Fulfillment Target</a:t>
            </a:r>
            <a:endParaRPr lang="en-US" sz="900" dirty="0"/>
          </a:p>
        </p:txBody>
      </p:sp>
      <p:sp>
        <p:nvSpPr>
          <p:cNvPr id="99" name="Text 61"/>
          <p:cNvSpPr txBox="1"/>
          <p:nvPr/>
        </p:nvSpPr>
        <p:spPr>
          <a:xfrm>
            <a:off x="9324137" y="323698"/>
            <a:ext cx="1334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CA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98% Success</a:t>
            </a:r>
            <a:endParaRPr lang="en-US" sz="1300" dirty="0"/>
          </a:p>
        </p:txBody>
      </p:sp>
      <p:sp>
        <p:nvSpPr>
          <p:cNvPr id="100" name="Text 62"/>
          <p:cNvSpPr txBox="1"/>
          <p:nvPr/>
        </p:nvSpPr>
        <p:spPr>
          <a:xfrm>
            <a:off x="11043209" y="171907"/>
            <a:ext cx="771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Goal</a:t>
            </a:r>
            <a:endParaRPr lang="en-US" sz="900" dirty="0"/>
          </a:p>
        </p:txBody>
      </p:sp>
      <p:sp>
        <p:nvSpPr>
          <p:cNvPr id="101" name="Text 63"/>
          <p:cNvSpPr txBox="1"/>
          <p:nvPr/>
        </p:nvSpPr>
        <p:spPr>
          <a:xfrm>
            <a:off x="10987430" y="323698"/>
            <a:ext cx="82753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4.5 / 5.0</a:t>
            </a:r>
            <a:endParaRPr lang="en-US" sz="1300" dirty="0"/>
          </a:p>
        </p:txBody>
      </p:sp>
      <p:pic>
        <p:nvPicPr>
          <p:cNvPr id="102" name="Image 36" descr="preencoded.png">    </p:cNvPr>
          <p:cNvPicPr>
            <a:picLocks noChangeAspect="1"/>
          </p:cNvPicPr>
          <p:nvPr/>
        </p:nvPicPr>
        <p:blipFill>
          <a:blip r:embed="rId37"/>
          <a:srcRect l="0" r="0" t="0" b="0"/>
          <a:stretch/>
        </p:blipFill>
        <p:spPr>
          <a:xfrm>
            <a:off x="495605" y="1485900"/>
            <a:ext cx="304495" cy="304495"/>
          </a:xfrm>
          <a:prstGeom prst="rect">
            <a:avLst/>
          </a:prstGeom>
        </p:spPr>
      </p:pic>
      <p:sp>
        <p:nvSpPr>
          <p:cNvPr id="103" name="Text 64"/>
          <p:cNvSpPr/>
          <p:nvPr/>
        </p:nvSpPr>
        <p:spPr>
          <a:xfrm>
            <a:off x="457200" y="1485900"/>
            <a:ext cx="381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pic>
        <p:nvPicPr>
          <p:cNvPr id="104" name="Image 37" descr="preencoded.png">    </p:cNvPr>
          <p:cNvPicPr>
            <a:picLocks noChangeAspect="1"/>
          </p:cNvPicPr>
          <p:nvPr/>
        </p:nvPicPr>
        <p:blipFill>
          <a:blip r:embed="rId38"/>
          <a:srcRect l="0" r="0" t="0" b="0"/>
          <a:stretch/>
        </p:blipFill>
        <p:spPr>
          <a:xfrm>
            <a:off x="3448202" y="1485900"/>
            <a:ext cx="304495" cy="304495"/>
          </a:xfrm>
          <a:prstGeom prst="rect">
            <a:avLst/>
          </a:prstGeom>
        </p:spPr>
      </p:pic>
      <p:sp>
        <p:nvSpPr>
          <p:cNvPr id="105" name="Text 65"/>
          <p:cNvSpPr/>
          <p:nvPr/>
        </p:nvSpPr>
        <p:spPr>
          <a:xfrm>
            <a:off x="3409798" y="1485900"/>
            <a:ext cx="381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06" name="Text 66"/>
          <p:cNvSpPr/>
          <p:nvPr/>
        </p:nvSpPr>
        <p:spPr>
          <a:xfrm>
            <a:off x="6362395" y="1485900"/>
            <a:ext cx="381305" cy="305410"/>
          </a:xfrm>
          <a:prstGeom prst="rect">
            <a:avLst/>
          </a:prstGeom>
          <a:noFill/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pic>
        <p:nvPicPr>
          <p:cNvPr id="107" name="Image 38" descr="preencoded.png">    </p:cNvPr>
          <p:cNvPicPr>
            <a:picLocks noChangeAspect="1"/>
          </p:cNvPicPr>
          <p:nvPr/>
        </p:nvPicPr>
        <p:blipFill>
          <a:blip r:embed="rId39"/>
          <a:srcRect l="0" r="0" t="0" b="0"/>
          <a:stretch/>
        </p:blipFill>
        <p:spPr>
          <a:xfrm>
            <a:off x="9353398" y="1485900"/>
            <a:ext cx="304495" cy="304495"/>
          </a:xfrm>
          <a:prstGeom prst="rect">
            <a:avLst/>
          </a:prstGeom>
        </p:spPr>
      </p:pic>
      <p:sp>
        <p:nvSpPr>
          <p:cNvPr id="108" name="Text 67"/>
          <p:cNvSpPr/>
          <p:nvPr/>
        </p:nvSpPr>
        <p:spPr>
          <a:xfrm>
            <a:off x="9315907" y="1485900"/>
            <a:ext cx="381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61695"/>
            <a:ext cx="12191695" cy="6096305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304495" y="1067105"/>
            <a:ext cx="4692701" cy="2628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2493" y="1257300"/>
            <a:ext cx="41824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Critical Success Factors 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3095" y="1285646"/>
            <a:ext cx="133502" cy="13350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33095" y="1600200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9107" y="1695298"/>
            <a:ext cx="114300" cy="1143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52805" y="1600200"/>
            <a:ext cx="3972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Over Quantity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952805" y="1752905"/>
            <a:ext cx="39346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vetting ensures premium positioning and avoids "flea market" perception.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33095" y="2286000"/>
            <a:ext cx="304495" cy="304495"/>
          </a:xfrm>
          <a:prstGeom prst="ellipse">
            <a:avLst/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614477" y="2381098"/>
            <a:ext cx="142646" cy="1143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52805" y="2286000"/>
            <a:ext cx="3972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Infrastructure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952805" y="2438705"/>
            <a:ext cx="39346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Blazon's established logistics to lower barrier to entry for sellers.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-1911" r="-1911" t="0" b="0"/>
          <a:stretch/>
        </p:blipFill>
        <p:spPr>
          <a:xfrm>
            <a:off x="619049" y="3066898"/>
            <a:ext cx="133502" cy="1143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52805" y="2971800"/>
            <a:ext cx="3972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Phased Growth Gates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952805" y="3124505"/>
            <a:ext cx="39346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Go/No-Go decisions at each phase based on strict financial &amp; operational KPIs.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-4" r="-4" t="0" b="0"/>
          <a:stretch/>
        </p:blipFill>
        <p:spPr>
          <a:xfrm>
            <a:off x="304495" y="3886200"/>
            <a:ext cx="4692701" cy="386699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05002" y="4076395"/>
            <a:ext cx="42199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Risk Mitigation Strategy </a:t>
            </a:r>
            <a:endParaRPr lang="en-US" sz="10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95605" y="4105656"/>
            <a:ext cx="133502" cy="133502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495605" y="4419295"/>
            <a:ext cx="4315054" cy="972007"/>
          </a:xfrm>
          <a:prstGeom prst="roundRect">
            <a:avLst>
              <a:gd name="adj" fmla="val 737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619049" y="4581144"/>
            <a:ext cx="16102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Risk: Seller Quality Drop</a:t>
            </a:r>
            <a:endParaRPr lang="en-US" sz="900" dirty="0"/>
          </a:p>
        </p:txBody>
      </p:sp>
      <p:sp>
        <p:nvSpPr>
          <p:cNvPr id="24" name="Shape 15"/>
          <p:cNvSpPr/>
          <p:nvPr/>
        </p:nvSpPr>
        <p:spPr>
          <a:xfrm>
            <a:off x="4272991" y="4543654"/>
            <a:ext cx="418795" cy="228600"/>
          </a:xfrm>
          <a:prstGeom prst="roundRect">
            <a:avLst>
              <a:gd name="adj" fmla="val 133333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4272991" y="4543654"/>
            <a:ext cx="4956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0" rIns="381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ECA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833018" y="4809744"/>
            <a:ext cx="3930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Probationary pilot periods, "Mystery Shopper" audits, and performance reserves.</a:t>
            </a:r>
            <a:endParaRPr lang="en-US" sz="12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619049" y="4848149"/>
            <a:ext cx="133502" cy="152705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495605" y="5505602"/>
            <a:ext cx="4315054" cy="972007"/>
          </a:xfrm>
          <a:prstGeom prst="roundRect">
            <a:avLst>
              <a:gd name="adj" fmla="val 737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619049" y="5667451"/>
            <a:ext cx="145115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Risk: Logistics Failure</a:t>
            </a:r>
            <a:endParaRPr lang="en-US" sz="900" dirty="0"/>
          </a:p>
        </p:txBody>
      </p:sp>
      <p:sp>
        <p:nvSpPr>
          <p:cNvPr id="30" name="Text 20"/>
          <p:cNvSpPr txBox="1"/>
          <p:nvPr/>
        </p:nvSpPr>
        <p:spPr>
          <a:xfrm>
            <a:off x="4286707" y="5629046"/>
            <a:ext cx="476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833018" y="5896051"/>
            <a:ext cx="3930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Multi-carrier redundancy (J&amp;T + EMS) and automated tracking integration.</a:t>
            </a:r>
            <a:endParaRPr lang="en-US" sz="12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3" b="-43"/>
          <a:stretch/>
        </p:blipFill>
        <p:spPr>
          <a:xfrm>
            <a:off x="619049" y="5934456"/>
            <a:ext cx="133502" cy="152705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95605" y="6590995"/>
            <a:ext cx="4315054" cy="972007"/>
          </a:xfrm>
          <a:prstGeom prst="roundRect">
            <a:avLst>
              <a:gd name="adj" fmla="val 737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Text 23"/>
          <p:cNvSpPr txBox="1"/>
          <p:nvPr/>
        </p:nvSpPr>
        <p:spPr>
          <a:xfrm>
            <a:off x="619049" y="6752844"/>
            <a:ext cx="10543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Risk: Cash Flow</a:t>
            </a:r>
            <a:endParaRPr lang="en-US" sz="900" dirty="0"/>
          </a:p>
        </p:txBody>
      </p:sp>
      <p:sp>
        <p:nvSpPr>
          <p:cNvPr id="35" name="Shape 24"/>
          <p:cNvSpPr/>
          <p:nvPr/>
        </p:nvSpPr>
        <p:spPr>
          <a:xfrm>
            <a:off x="4286707" y="6715354"/>
            <a:ext cx="400507" cy="228600"/>
          </a:xfrm>
          <a:prstGeom prst="roundRect">
            <a:avLst>
              <a:gd name="adj" fmla="val 133333"/>
            </a:avLst>
          </a:prstGeom>
          <a:solidFill>
            <a:srgbClr val="783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5"/>
          <p:cNvSpPr txBox="1"/>
          <p:nvPr/>
        </p:nvSpPr>
        <p:spPr>
          <a:xfrm>
            <a:off x="4286707" y="6715354"/>
            <a:ext cx="4764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0" rIns="381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</a:t>
            </a:r>
            <a:endParaRPr lang="en-US" sz="1200" dirty="0"/>
          </a:p>
        </p:txBody>
      </p:sp>
      <p:sp>
        <p:nvSpPr>
          <p:cNvPr id="37" name="Text 26"/>
          <p:cNvSpPr txBox="1"/>
          <p:nvPr/>
        </p:nvSpPr>
        <p:spPr>
          <a:xfrm>
            <a:off x="833018" y="6981444"/>
            <a:ext cx="3930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Conservative commission modeling and phased marketing spend.</a:t>
            </a:r>
            <a:endParaRPr lang="en-US" sz="12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" b="-43"/>
          <a:stretch/>
        </p:blipFill>
        <p:spPr>
          <a:xfrm>
            <a:off x="619049" y="7019849"/>
            <a:ext cx="133502" cy="152705"/>
          </a:xfrm>
          <a:prstGeom prst="rect">
            <a:avLst/>
          </a:prstGeom>
        </p:spPr>
      </p:pic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rcRect l="-5" r="-5" t="0" b="0"/>
          <a:stretch/>
        </p:blipFill>
        <p:spPr>
          <a:xfrm>
            <a:off x="5225796" y="1067105"/>
            <a:ext cx="6661404" cy="2152498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5635447" y="1314907"/>
            <a:ext cx="2386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Seller SLA Requirements</a:t>
            </a:r>
            <a:endParaRPr lang="en-US" sz="10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rcRect l="-2512" r="-2512" t="0" b="0"/>
          <a:stretch/>
        </p:blipFill>
        <p:spPr>
          <a:xfrm>
            <a:off x="5454396" y="1340510"/>
            <a:ext cx="105156" cy="133502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8708746" y="1295705"/>
            <a:ext cx="35103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Non-compliance leads to account review</a:t>
            </a:r>
            <a:endParaRPr lang="en-US" sz="1200" dirty="0"/>
          </a:p>
        </p:txBody>
      </p:sp>
      <p:sp>
        <p:nvSpPr>
          <p:cNvPr id="43" name="Shape 29"/>
          <p:cNvSpPr/>
          <p:nvPr/>
        </p:nvSpPr>
        <p:spPr>
          <a:xfrm>
            <a:off x="5454396" y="1676095"/>
            <a:ext cx="1438351" cy="1314907"/>
          </a:xfrm>
          <a:prstGeom prst="roundRect">
            <a:avLst>
              <a:gd name="adj" fmla="val 403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842" b="-842"/>
          <a:stretch/>
        </p:blipFill>
        <p:spPr>
          <a:xfrm>
            <a:off x="6077102" y="1840687"/>
            <a:ext cx="190195" cy="171907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5540350" y="2104949"/>
            <a:ext cx="12673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24h</a:t>
            </a:r>
            <a:endParaRPr lang="en-US" sz="1500" dirty="0"/>
          </a:p>
        </p:txBody>
      </p:sp>
      <p:sp>
        <p:nvSpPr>
          <p:cNvPr id="46" name="Text 31"/>
          <p:cNvSpPr txBox="1"/>
          <p:nvPr/>
        </p:nvSpPr>
        <p:spPr>
          <a:xfrm>
            <a:off x="5549494" y="2409444"/>
            <a:ext cx="1248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Confirmation</a:t>
            </a:r>
            <a:endParaRPr lang="en-US" sz="1200" dirty="0"/>
          </a:p>
        </p:txBody>
      </p:sp>
      <p:sp>
        <p:nvSpPr>
          <p:cNvPr id="47" name="Shape 32"/>
          <p:cNvSpPr/>
          <p:nvPr/>
        </p:nvSpPr>
        <p:spPr>
          <a:xfrm>
            <a:off x="7043623" y="1676095"/>
            <a:ext cx="1438351" cy="1314907"/>
          </a:xfrm>
          <a:prstGeom prst="roundRect">
            <a:avLst>
              <a:gd name="adj" fmla="val 403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rcRect l="-1064" r="-1064" t="0" b="0"/>
          <a:stretch/>
        </p:blipFill>
        <p:spPr>
          <a:xfrm>
            <a:off x="7652614" y="1840687"/>
            <a:ext cx="219456" cy="171907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7129577" y="2104949"/>
            <a:ext cx="12673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48h</a:t>
            </a:r>
            <a:endParaRPr lang="en-US" sz="1500" dirty="0"/>
          </a:p>
        </p:txBody>
      </p:sp>
      <p:sp>
        <p:nvSpPr>
          <p:cNvPr id="50" name="Text 34"/>
          <p:cNvSpPr txBox="1"/>
          <p:nvPr/>
        </p:nvSpPr>
        <p:spPr>
          <a:xfrm>
            <a:off x="7138721" y="2409444"/>
            <a:ext cx="1248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Dispatch Time</a:t>
            </a:r>
            <a:endParaRPr lang="en-US" sz="1200" dirty="0"/>
          </a:p>
        </p:txBody>
      </p:sp>
      <p:sp>
        <p:nvSpPr>
          <p:cNvPr id="51" name="Shape 35"/>
          <p:cNvSpPr/>
          <p:nvPr/>
        </p:nvSpPr>
        <p:spPr>
          <a:xfrm>
            <a:off x="8632850" y="1676095"/>
            <a:ext cx="1438351" cy="1314907"/>
          </a:xfrm>
          <a:prstGeom prst="roundRect">
            <a:avLst>
              <a:gd name="adj" fmla="val 403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rcRect l="-1773" r="-1773" t="0" b="0"/>
          <a:stretch/>
        </p:blipFill>
        <p:spPr>
          <a:xfrm>
            <a:off x="9283903" y="1840687"/>
            <a:ext cx="133502" cy="171907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8718804" y="2104949"/>
            <a:ext cx="12673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98%</a:t>
            </a:r>
            <a:endParaRPr lang="en-US" sz="1500" dirty="0"/>
          </a:p>
        </p:txBody>
      </p:sp>
      <p:sp>
        <p:nvSpPr>
          <p:cNvPr id="54" name="Text 37"/>
          <p:cNvSpPr txBox="1"/>
          <p:nvPr/>
        </p:nvSpPr>
        <p:spPr>
          <a:xfrm>
            <a:off x="8643823" y="24094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Fulfillment Rate</a:t>
            </a:r>
            <a:endParaRPr lang="en-US" sz="1200" dirty="0"/>
          </a:p>
        </p:txBody>
      </p:sp>
      <p:sp>
        <p:nvSpPr>
          <p:cNvPr id="55" name="Shape 38"/>
          <p:cNvSpPr/>
          <p:nvPr/>
        </p:nvSpPr>
        <p:spPr>
          <a:xfrm>
            <a:off x="10222078" y="1676095"/>
            <a:ext cx="1438351" cy="1314907"/>
          </a:xfrm>
          <a:prstGeom prst="roundRect">
            <a:avLst>
              <a:gd name="adj" fmla="val 403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0854842" y="1840687"/>
            <a:ext cx="171907" cy="171907"/>
          </a:xfrm>
          <a:prstGeom prst="rect">
            <a:avLst/>
          </a:prstGeom>
        </p:spPr>
      </p:pic>
      <p:sp>
        <p:nvSpPr>
          <p:cNvPr id="57" name="Text 39"/>
          <p:cNvSpPr txBox="1"/>
          <p:nvPr/>
        </p:nvSpPr>
        <p:spPr>
          <a:xfrm>
            <a:off x="10307117" y="2104949"/>
            <a:ext cx="12673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&lt;5%</a:t>
            </a:r>
            <a:endParaRPr lang="en-US" sz="1500" dirty="0"/>
          </a:p>
        </p:txBody>
      </p:sp>
      <p:sp>
        <p:nvSpPr>
          <p:cNvPr id="58" name="Text 40"/>
          <p:cNvSpPr txBox="1"/>
          <p:nvPr/>
        </p:nvSpPr>
        <p:spPr>
          <a:xfrm>
            <a:off x="10232136" y="24094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Rate Cap</a:t>
            </a:r>
            <a:endParaRPr lang="en-US" sz="1200" dirty="0"/>
          </a:p>
        </p:txBody>
      </p:sp>
      <p:pic>
        <p:nvPicPr>
          <p:cNvPr id="59" name="Image 16" descr="preencoded.png">    </p:cNvPr>
          <p:cNvPicPr>
            <a:picLocks noChangeAspect="1"/>
          </p:cNvPicPr>
          <p:nvPr/>
        </p:nvPicPr>
        <p:blipFill>
          <a:blip r:embed="rId17"/>
          <a:srcRect l="-5" r="-5" t="0" b="0"/>
          <a:stretch/>
        </p:blipFill>
        <p:spPr>
          <a:xfrm>
            <a:off x="5225796" y="3448202"/>
            <a:ext cx="6661404" cy="4304995"/>
          </a:xfrm>
          <a:prstGeom prst="rect">
            <a:avLst/>
          </a:prstGeom>
        </p:spPr>
      </p:pic>
      <p:sp>
        <p:nvSpPr>
          <p:cNvPr id="60" name="Text 41"/>
          <p:cNvSpPr txBox="1"/>
          <p:nvPr/>
        </p:nvSpPr>
        <p:spPr>
          <a:xfrm>
            <a:off x="5663794" y="3676802"/>
            <a:ext cx="6115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1 Success Metrics Dashboard</a:t>
            </a:r>
            <a:endParaRPr lang="en-US" sz="1000" dirty="0"/>
          </a:p>
        </p:txBody>
      </p:sp>
      <p:pic>
        <p:nvPicPr>
          <p:cNvPr id="61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5454396" y="3702406"/>
            <a:ext cx="133502" cy="133502"/>
          </a:xfrm>
          <a:prstGeom prst="rect">
            <a:avLst/>
          </a:prstGeom>
        </p:spPr>
      </p:pic>
      <p:pic>
        <p:nvPicPr>
          <p:cNvPr id="62" name="Image 18" descr="preencoded.png">    </p:cNvPr>
          <p:cNvPicPr>
            <a:picLocks noChangeAspect="1"/>
          </p:cNvPicPr>
          <p:nvPr/>
        </p:nvPicPr>
        <p:blipFill>
          <a:blip r:embed="rId19">
            <a:alphaModFix amt="10000"/>
          </a:blip>
          <a:srcRect l="0" r="0" t="0" b="0"/>
          <a:stretch/>
        </p:blipFill>
        <p:spPr>
          <a:xfrm>
            <a:off x="7794346" y="4134002"/>
            <a:ext cx="571500" cy="571500"/>
          </a:xfrm>
          <a:prstGeom prst="rect">
            <a:avLst/>
          </a:prstGeom>
        </p:spPr>
      </p:pic>
      <p:sp>
        <p:nvSpPr>
          <p:cNvPr id="63" name="Text 42"/>
          <p:cNvSpPr txBox="1"/>
          <p:nvPr/>
        </p:nvSpPr>
        <p:spPr>
          <a:xfrm>
            <a:off x="5607101" y="4438498"/>
            <a:ext cx="279349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A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GMV Target</a:t>
            </a:r>
            <a:endParaRPr lang="en-US" sz="900" dirty="0"/>
          </a:p>
        </p:txBody>
      </p:sp>
      <p:sp>
        <p:nvSpPr>
          <p:cNvPr id="64" name="Text 43"/>
          <p:cNvSpPr txBox="1"/>
          <p:nvPr/>
        </p:nvSpPr>
        <p:spPr>
          <a:xfrm>
            <a:off x="5607101" y="4629607"/>
            <a:ext cx="29425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6.75 </a:t>
            </a:r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Billion MMK</a:t>
            </a:r>
            <a:endParaRPr lang="en-US" sz="2200" dirty="0"/>
          </a:p>
        </p:txBody>
      </p:sp>
      <p:pic>
        <p:nvPicPr>
          <p:cNvPr id="65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401" b="-401"/>
          <a:stretch/>
        </p:blipFill>
        <p:spPr>
          <a:xfrm>
            <a:off x="5607101" y="5086807"/>
            <a:ext cx="2682850" cy="57607"/>
          </a:xfrm>
          <a:prstGeom prst="rect">
            <a:avLst/>
          </a:prstGeom>
        </p:spPr>
      </p:pic>
      <p:pic>
        <p:nvPicPr>
          <p:cNvPr id="66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-401" b="-401"/>
          <a:stretch/>
        </p:blipFill>
        <p:spPr>
          <a:xfrm>
            <a:off x="5607101" y="5086807"/>
            <a:ext cx="2682850" cy="57607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5499202" y="5181905"/>
            <a:ext cx="2793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Achieved @ Month 12</a:t>
            </a:r>
            <a:endParaRPr lang="en-US" sz="1200" dirty="0"/>
          </a:p>
        </p:txBody>
      </p:sp>
      <p:sp>
        <p:nvSpPr>
          <p:cNvPr id="68" name="Shape 45"/>
          <p:cNvSpPr/>
          <p:nvPr/>
        </p:nvSpPr>
        <p:spPr>
          <a:xfrm>
            <a:off x="8671255" y="4058107"/>
            <a:ext cx="2991002" cy="790956"/>
          </a:xfrm>
          <a:prstGeom prst="roundRect">
            <a:avLst>
              <a:gd name="adj" fmla="val 3342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46"/>
          <p:cNvSpPr txBox="1"/>
          <p:nvPr/>
        </p:nvSpPr>
        <p:spPr>
          <a:xfrm>
            <a:off x="8870594" y="4224528"/>
            <a:ext cx="8101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Score</a:t>
            </a:r>
            <a:endParaRPr lang="en-US" sz="900" dirty="0"/>
          </a:p>
        </p:txBody>
      </p:sp>
      <p:sp>
        <p:nvSpPr>
          <p:cNvPr id="70" name="Text 47"/>
          <p:cNvSpPr txBox="1"/>
          <p:nvPr/>
        </p:nvSpPr>
        <p:spPr>
          <a:xfrm>
            <a:off x="8870594" y="4376318"/>
            <a:ext cx="87325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4.5 </a:t>
            </a:r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5.0</a:t>
            </a:r>
            <a:endParaRPr lang="en-US" sz="1800" dirty="0"/>
          </a:p>
        </p:txBody>
      </p:sp>
      <p:pic>
        <p:nvPicPr>
          <p:cNvPr id="71" name="Image 21" descr="preencoded.png">    </p:cNvPr>
          <p:cNvPicPr>
            <a:picLocks noChangeAspect="1"/>
          </p:cNvPicPr>
          <p:nvPr/>
        </p:nvPicPr>
        <p:blipFill>
          <a:blip r:embed="rId22"/>
          <a:srcRect l="-837" r="-837" t="0" b="0"/>
          <a:stretch/>
        </p:blipFill>
        <p:spPr>
          <a:xfrm>
            <a:off x="10524744" y="4386377"/>
            <a:ext cx="152705" cy="133502"/>
          </a:xfrm>
          <a:prstGeom prst="rect">
            <a:avLst/>
          </a:prstGeom>
        </p:spPr>
      </p:pic>
      <p:pic>
        <p:nvPicPr>
          <p:cNvPr id="72" name="Image 22" descr="preencoded.png">    </p:cNvPr>
          <p:cNvPicPr>
            <a:picLocks noChangeAspect="1"/>
          </p:cNvPicPr>
          <p:nvPr/>
        </p:nvPicPr>
        <p:blipFill>
          <a:blip r:embed="rId23"/>
          <a:srcRect l="-837" r="-837" t="0" b="0"/>
          <a:stretch/>
        </p:blipFill>
        <p:spPr>
          <a:xfrm>
            <a:off x="10715854" y="4386377"/>
            <a:ext cx="152705" cy="133502"/>
          </a:xfrm>
          <a:prstGeom prst="rect">
            <a:avLst/>
          </a:prstGeom>
        </p:spPr>
      </p:pic>
      <p:pic>
        <p:nvPicPr>
          <p:cNvPr id="73" name="Image 23" descr="preencoded.png">    </p:cNvPr>
          <p:cNvPicPr>
            <a:picLocks noChangeAspect="1"/>
          </p:cNvPicPr>
          <p:nvPr/>
        </p:nvPicPr>
        <p:blipFill>
          <a:blip r:embed="rId24"/>
          <a:srcRect l="-837" r="-837" t="0" b="0"/>
          <a:stretch/>
        </p:blipFill>
        <p:spPr>
          <a:xfrm>
            <a:off x="10906049" y="4386377"/>
            <a:ext cx="152705" cy="133502"/>
          </a:xfrm>
          <a:prstGeom prst="rect">
            <a:avLst/>
          </a:prstGeom>
        </p:spPr>
      </p:pic>
      <p:pic>
        <p:nvPicPr>
          <p:cNvPr id="74" name="Image 24" descr="preencoded.png">    </p:cNvPr>
          <p:cNvPicPr>
            <a:picLocks noChangeAspect="1"/>
          </p:cNvPicPr>
          <p:nvPr/>
        </p:nvPicPr>
        <p:blipFill>
          <a:blip r:embed="rId25"/>
          <a:srcRect l="-837" r="-837" t="0" b="0"/>
          <a:stretch/>
        </p:blipFill>
        <p:spPr>
          <a:xfrm>
            <a:off x="11096244" y="4386377"/>
            <a:ext cx="152705" cy="133502"/>
          </a:xfrm>
          <a:prstGeom prst="rect">
            <a:avLst/>
          </a:prstGeom>
        </p:spPr>
      </p:pic>
      <p:pic>
        <p:nvPicPr>
          <p:cNvPr id="75" name="Image 25" descr="preencoded.png">    </p:cNvPr>
          <p:cNvPicPr>
            <a:picLocks noChangeAspect="1"/>
          </p:cNvPicPr>
          <p:nvPr/>
        </p:nvPicPr>
        <p:blipFill>
          <a:blip r:embed="rId26"/>
          <a:srcRect l="-7230" r="-7230" t="0" b="0"/>
          <a:stretch/>
        </p:blipFill>
        <p:spPr>
          <a:xfrm>
            <a:off x="11287354" y="4386377"/>
            <a:ext cx="171907" cy="133502"/>
          </a:xfrm>
          <a:prstGeom prst="rect">
            <a:avLst/>
          </a:prstGeom>
        </p:spPr>
      </p:pic>
      <p:sp>
        <p:nvSpPr>
          <p:cNvPr id="76" name="Shape 48"/>
          <p:cNvSpPr/>
          <p:nvPr/>
        </p:nvSpPr>
        <p:spPr>
          <a:xfrm>
            <a:off x="8671255" y="5000854"/>
            <a:ext cx="2991002" cy="790956"/>
          </a:xfrm>
          <a:prstGeom prst="roundRect">
            <a:avLst>
              <a:gd name="adj" fmla="val 3342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Text 49"/>
          <p:cNvSpPr txBox="1"/>
          <p:nvPr/>
        </p:nvSpPr>
        <p:spPr>
          <a:xfrm>
            <a:off x="8870594" y="5167274"/>
            <a:ext cx="11914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 Retention</a:t>
            </a:r>
            <a:endParaRPr lang="en-US" sz="900" dirty="0"/>
          </a:p>
        </p:txBody>
      </p:sp>
      <p:sp>
        <p:nvSpPr>
          <p:cNvPr id="78" name="Text 50"/>
          <p:cNvSpPr txBox="1"/>
          <p:nvPr/>
        </p:nvSpPr>
        <p:spPr>
          <a:xfrm>
            <a:off x="8870594" y="5319979"/>
            <a:ext cx="11914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endParaRPr lang="en-US" sz="1800" dirty="0"/>
          </a:p>
        </p:txBody>
      </p:sp>
      <p:pic>
        <p:nvPicPr>
          <p:cNvPr id="79" name="Image 26" descr="preencoded.png">    </p:cNvPr>
          <p:cNvPicPr>
            <a:picLocks noChangeAspect="1"/>
          </p:cNvPicPr>
          <p:nvPr/>
        </p:nvPicPr>
        <p:blipFill>
          <a:blip r:embed="rId27"/>
          <a:srcRect l="-201" r="-201" t="0" b="0"/>
          <a:stretch/>
        </p:blipFill>
        <p:spPr>
          <a:xfrm>
            <a:off x="10543946" y="5357470"/>
            <a:ext cx="914400" cy="75895"/>
          </a:xfrm>
          <a:prstGeom prst="rect">
            <a:avLst/>
          </a:prstGeom>
        </p:spPr>
      </p:pic>
      <p:pic>
        <p:nvPicPr>
          <p:cNvPr id="80" name="Image 27" descr="preencoded.png">    </p:cNvPr>
          <p:cNvPicPr>
            <a:picLocks noChangeAspect="1"/>
          </p:cNvPicPr>
          <p:nvPr/>
        </p:nvPicPr>
        <p:blipFill>
          <a:blip r:embed="rId28"/>
          <a:srcRect l="-205" r="-205" t="0" b="0"/>
          <a:stretch/>
        </p:blipFill>
        <p:spPr>
          <a:xfrm>
            <a:off x="10543946" y="5357470"/>
            <a:ext cx="777240" cy="75895"/>
          </a:xfrm>
          <a:prstGeom prst="rect">
            <a:avLst/>
          </a:prstGeom>
        </p:spPr>
      </p:pic>
      <p:sp>
        <p:nvSpPr>
          <p:cNvPr id="81" name="Shape 51"/>
          <p:cNvSpPr/>
          <p:nvPr/>
        </p:nvSpPr>
        <p:spPr>
          <a:xfrm>
            <a:off x="5454396" y="6019495"/>
            <a:ext cx="6210605" cy="1333195"/>
          </a:xfrm>
          <a:prstGeom prst="roundRect">
            <a:avLst>
              <a:gd name="adj" fmla="val 78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2" name="Image 28" descr="preencoded.png">    </p:cNvPr>
          <p:cNvPicPr>
            <a:picLocks noChangeAspect="1"/>
          </p:cNvPicPr>
          <p:nvPr/>
        </p:nvPicPr>
        <p:blipFill>
          <a:blip r:embed="rId29"/>
          <a:srcRect l="-91" r="-91" t="0" b="0"/>
          <a:stretch/>
        </p:blipFill>
        <p:spPr>
          <a:xfrm>
            <a:off x="5454396" y="6019495"/>
            <a:ext cx="6210605" cy="1333195"/>
          </a:xfrm>
          <a:prstGeom prst="rect">
            <a:avLst/>
          </a:prstGeom>
        </p:spPr>
      </p:pic>
      <p:pic>
        <p:nvPicPr>
          <p:cNvPr id="83" name="Image 29" descr="preencoded.png">    </p:cNvPr>
          <p:cNvPicPr>
            <a:picLocks noChangeAspect="1"/>
          </p:cNvPicPr>
          <p:nvPr/>
        </p:nvPicPr>
        <p:blipFill>
          <a:blip r:embed="rId30"/>
          <a:srcRect l="-19" r="-19" t="0" b="0"/>
          <a:stretch/>
        </p:blipFill>
        <p:spPr>
          <a:xfrm>
            <a:off x="0" y="0"/>
            <a:ext cx="12191695" cy="761695"/>
          </a:xfrm>
          <a:prstGeom prst="rect">
            <a:avLst/>
          </a:prstGeom>
        </p:spPr>
      </p:pic>
      <p:pic>
        <p:nvPicPr>
          <p:cNvPr id="84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0" b="0"/>
          <a:stretch/>
        </p:blipFill>
        <p:spPr>
          <a:xfrm>
            <a:off x="381305" y="190195"/>
            <a:ext cx="381305" cy="381305"/>
          </a:xfrm>
          <a:prstGeom prst="rect">
            <a:avLst/>
          </a:prstGeom>
        </p:spPr>
      </p:pic>
      <p:pic>
        <p:nvPicPr>
          <p:cNvPr id="85" name="Image 31" descr="preencoded.png">    </p:cNvPr>
          <p:cNvPicPr>
            <a:picLocks noChangeAspect="1"/>
          </p:cNvPicPr>
          <p:nvPr/>
        </p:nvPicPr>
        <p:blipFill>
          <a:blip r:embed="rId32"/>
          <a:srcRect l="-1282" r="-1282" t="0" b="0"/>
          <a:stretch/>
        </p:blipFill>
        <p:spPr>
          <a:xfrm>
            <a:off x="461772" y="286207"/>
            <a:ext cx="219456" cy="190195"/>
          </a:xfrm>
          <a:prstGeom prst="rect">
            <a:avLst/>
          </a:prstGeom>
        </p:spPr>
      </p:pic>
      <p:sp>
        <p:nvSpPr>
          <p:cNvPr id="86" name="Text 52"/>
          <p:cNvSpPr txBox="1"/>
          <p:nvPr/>
        </p:nvSpPr>
        <p:spPr>
          <a:xfrm>
            <a:off x="914400" y="152705"/>
            <a:ext cx="33531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Roadmap</a:t>
            </a:r>
            <a:endParaRPr lang="en-US" sz="1800" dirty="0"/>
          </a:p>
        </p:txBody>
      </p:sp>
      <p:sp>
        <p:nvSpPr>
          <p:cNvPr id="87" name="Text 53"/>
          <p:cNvSpPr txBox="1"/>
          <p:nvPr/>
        </p:nvSpPr>
        <p:spPr>
          <a:xfrm>
            <a:off x="914400" y="457200"/>
            <a:ext cx="30961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Mitigation &amp; Success Metrics</a:t>
            </a:r>
            <a:endParaRPr lang="en-US" sz="900" dirty="0"/>
          </a:p>
        </p:txBody>
      </p:sp>
      <p:sp>
        <p:nvSpPr>
          <p:cNvPr id="88" name="Shape 54"/>
          <p:cNvSpPr/>
          <p:nvPr/>
        </p:nvSpPr>
        <p:spPr>
          <a:xfrm>
            <a:off x="10601554" y="171907"/>
            <a:ext cx="9144" cy="418795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89" name="Text 55"/>
          <p:cNvSpPr txBox="1"/>
          <p:nvPr/>
        </p:nvSpPr>
        <p:spPr>
          <a:xfrm>
            <a:off x="9333281" y="171907"/>
            <a:ext cx="10387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1 Status</a:t>
            </a:r>
            <a:endParaRPr lang="en-US" sz="900" dirty="0"/>
          </a:p>
        </p:txBody>
      </p:sp>
      <p:sp>
        <p:nvSpPr>
          <p:cNvPr id="90" name="Text 56"/>
          <p:cNvSpPr txBox="1"/>
          <p:nvPr/>
        </p:nvSpPr>
        <p:spPr>
          <a:xfrm>
            <a:off x="9227210" y="323698"/>
            <a:ext cx="114482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CA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Launch</a:t>
            </a:r>
            <a:endParaRPr lang="en-US" sz="1300" dirty="0"/>
          </a:p>
        </p:txBody>
      </p:sp>
      <p:sp>
        <p:nvSpPr>
          <p:cNvPr id="91" name="Text 57"/>
          <p:cNvSpPr txBox="1"/>
          <p:nvPr/>
        </p:nvSpPr>
        <p:spPr>
          <a:xfrm>
            <a:off x="10753344" y="171907"/>
            <a:ext cx="10671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Sellers</a:t>
            </a:r>
            <a:endParaRPr lang="en-US" sz="900" dirty="0"/>
          </a:p>
        </p:txBody>
      </p:sp>
      <p:sp>
        <p:nvSpPr>
          <p:cNvPr id="92" name="Text 58"/>
          <p:cNvSpPr txBox="1"/>
          <p:nvPr/>
        </p:nvSpPr>
        <p:spPr>
          <a:xfrm>
            <a:off x="10640873" y="323698"/>
            <a:ext cx="117957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80+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2026-03-10T09:36:47Z</dcterms:created>
  <dcterms:modified xsi:type="dcterms:W3CDTF">2026-03-10T09:36:47Z</dcterms:modified>
</cp:coreProperties>
</file>